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19"/>
    <p:restoredTop sz="94570"/>
  </p:normalViewPr>
  <p:slideViewPr>
    <p:cSldViewPr snapToGrid="0">
      <p:cViewPr varScale="1">
        <p:scale>
          <a:sx n="124" d="100"/>
          <a:sy n="124" d="100"/>
        </p:scale>
        <p:origin x="18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0BF75-7846-7EA0-2D4D-6165E42370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EC271F-FCE2-03E2-C412-C67FDA8B93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6568FA-B653-F4AB-2E94-AAC807DB43D3}"/>
              </a:ext>
            </a:extLst>
          </p:cNvPr>
          <p:cNvSpPr>
            <a:spLocks noGrp="1"/>
          </p:cNvSpPr>
          <p:nvPr>
            <p:ph type="dt" sz="half" idx="10"/>
          </p:nvPr>
        </p:nvSpPr>
        <p:spPr/>
        <p:txBody>
          <a:bodyPr/>
          <a:lstStyle/>
          <a:p>
            <a:fld id="{EEF15244-4AC2-5742-BBD3-2092CB8772BC}" type="datetimeFigureOut">
              <a:rPr lang="en-US" smtClean="0"/>
              <a:t>9/15/25</a:t>
            </a:fld>
            <a:endParaRPr lang="en-US"/>
          </a:p>
        </p:txBody>
      </p:sp>
      <p:sp>
        <p:nvSpPr>
          <p:cNvPr id="5" name="Footer Placeholder 4">
            <a:extLst>
              <a:ext uri="{FF2B5EF4-FFF2-40B4-BE49-F238E27FC236}">
                <a16:creationId xmlns:a16="http://schemas.microsoft.com/office/drawing/2014/main" id="{35E5D4AA-896F-2086-D8F4-D361287ED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C4B5AF-CAF2-2696-5BD1-6B6AC61800CD}"/>
              </a:ext>
            </a:extLst>
          </p:cNvPr>
          <p:cNvSpPr>
            <a:spLocks noGrp="1"/>
          </p:cNvSpPr>
          <p:nvPr>
            <p:ph type="sldNum" sz="quarter" idx="12"/>
          </p:nvPr>
        </p:nvSpPr>
        <p:spPr/>
        <p:txBody>
          <a:bodyPr/>
          <a:lstStyle/>
          <a:p>
            <a:fld id="{105A2FD9-ED36-B24C-980A-6B9CA1C62CC0}" type="slidenum">
              <a:rPr lang="en-US" smtClean="0"/>
              <a:t>‹#›</a:t>
            </a:fld>
            <a:endParaRPr lang="en-US"/>
          </a:p>
        </p:txBody>
      </p:sp>
    </p:spTree>
    <p:extLst>
      <p:ext uri="{BB962C8B-B14F-4D97-AF65-F5344CB8AC3E}">
        <p14:creationId xmlns:p14="http://schemas.microsoft.com/office/powerpoint/2010/main" val="4229943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5BBF8-ED1C-E0BE-1776-3125D8504B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F73601-42D0-68C1-71BE-3C6945BE6F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73E270-BC72-A32F-E1F0-278C906DDF62}"/>
              </a:ext>
            </a:extLst>
          </p:cNvPr>
          <p:cNvSpPr>
            <a:spLocks noGrp="1"/>
          </p:cNvSpPr>
          <p:nvPr>
            <p:ph type="dt" sz="half" idx="10"/>
          </p:nvPr>
        </p:nvSpPr>
        <p:spPr/>
        <p:txBody>
          <a:bodyPr/>
          <a:lstStyle/>
          <a:p>
            <a:fld id="{EEF15244-4AC2-5742-BBD3-2092CB8772BC}" type="datetimeFigureOut">
              <a:rPr lang="en-US" smtClean="0"/>
              <a:t>9/15/25</a:t>
            </a:fld>
            <a:endParaRPr lang="en-US"/>
          </a:p>
        </p:txBody>
      </p:sp>
      <p:sp>
        <p:nvSpPr>
          <p:cNvPr id="5" name="Footer Placeholder 4">
            <a:extLst>
              <a:ext uri="{FF2B5EF4-FFF2-40B4-BE49-F238E27FC236}">
                <a16:creationId xmlns:a16="http://schemas.microsoft.com/office/drawing/2014/main" id="{FF2DB2BD-ABDB-3CEF-DEEB-01D4D7FBD6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0EA8BB-7692-0331-01CB-B19DB4735593}"/>
              </a:ext>
            </a:extLst>
          </p:cNvPr>
          <p:cNvSpPr>
            <a:spLocks noGrp="1"/>
          </p:cNvSpPr>
          <p:nvPr>
            <p:ph type="sldNum" sz="quarter" idx="12"/>
          </p:nvPr>
        </p:nvSpPr>
        <p:spPr/>
        <p:txBody>
          <a:bodyPr/>
          <a:lstStyle/>
          <a:p>
            <a:fld id="{105A2FD9-ED36-B24C-980A-6B9CA1C62CC0}" type="slidenum">
              <a:rPr lang="en-US" smtClean="0"/>
              <a:t>‹#›</a:t>
            </a:fld>
            <a:endParaRPr lang="en-US"/>
          </a:p>
        </p:txBody>
      </p:sp>
    </p:spTree>
    <p:extLst>
      <p:ext uri="{BB962C8B-B14F-4D97-AF65-F5344CB8AC3E}">
        <p14:creationId xmlns:p14="http://schemas.microsoft.com/office/powerpoint/2010/main" val="1468970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1A676-5E76-1BBA-E113-78B96ADBBA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219699-AC21-BE2D-78A4-903F939E76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91CB98-F506-8890-4F81-6D81E25E6929}"/>
              </a:ext>
            </a:extLst>
          </p:cNvPr>
          <p:cNvSpPr>
            <a:spLocks noGrp="1"/>
          </p:cNvSpPr>
          <p:nvPr>
            <p:ph type="dt" sz="half" idx="10"/>
          </p:nvPr>
        </p:nvSpPr>
        <p:spPr/>
        <p:txBody>
          <a:bodyPr/>
          <a:lstStyle/>
          <a:p>
            <a:fld id="{EEF15244-4AC2-5742-BBD3-2092CB8772BC}" type="datetimeFigureOut">
              <a:rPr lang="en-US" smtClean="0"/>
              <a:t>9/15/25</a:t>
            </a:fld>
            <a:endParaRPr lang="en-US"/>
          </a:p>
        </p:txBody>
      </p:sp>
      <p:sp>
        <p:nvSpPr>
          <p:cNvPr id="5" name="Footer Placeholder 4">
            <a:extLst>
              <a:ext uri="{FF2B5EF4-FFF2-40B4-BE49-F238E27FC236}">
                <a16:creationId xmlns:a16="http://schemas.microsoft.com/office/drawing/2014/main" id="{11B17033-503E-0A88-2F85-66510936C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1AA08E-1054-1C63-D6DF-E9B4230DE551}"/>
              </a:ext>
            </a:extLst>
          </p:cNvPr>
          <p:cNvSpPr>
            <a:spLocks noGrp="1"/>
          </p:cNvSpPr>
          <p:nvPr>
            <p:ph type="sldNum" sz="quarter" idx="12"/>
          </p:nvPr>
        </p:nvSpPr>
        <p:spPr/>
        <p:txBody>
          <a:bodyPr/>
          <a:lstStyle/>
          <a:p>
            <a:fld id="{105A2FD9-ED36-B24C-980A-6B9CA1C62CC0}" type="slidenum">
              <a:rPr lang="en-US" smtClean="0"/>
              <a:t>‹#›</a:t>
            </a:fld>
            <a:endParaRPr lang="en-US"/>
          </a:p>
        </p:txBody>
      </p:sp>
    </p:spTree>
    <p:extLst>
      <p:ext uri="{BB962C8B-B14F-4D97-AF65-F5344CB8AC3E}">
        <p14:creationId xmlns:p14="http://schemas.microsoft.com/office/powerpoint/2010/main" val="1330920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7B476-DF55-FED8-4630-731BA4C7B4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3D80B0-E1DF-2776-9FDE-21FDDF5F9B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6078E4-CC29-50D2-A2A9-15D294A0A9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017E8C-3AF3-7731-C07B-5A9641EF5D78}"/>
              </a:ext>
            </a:extLst>
          </p:cNvPr>
          <p:cNvSpPr>
            <a:spLocks noGrp="1"/>
          </p:cNvSpPr>
          <p:nvPr>
            <p:ph type="dt" sz="half" idx="10"/>
          </p:nvPr>
        </p:nvSpPr>
        <p:spPr/>
        <p:txBody>
          <a:bodyPr/>
          <a:lstStyle/>
          <a:p>
            <a:fld id="{EEF15244-4AC2-5742-BBD3-2092CB8772BC}" type="datetimeFigureOut">
              <a:rPr lang="en-US" smtClean="0"/>
              <a:t>9/15/25</a:t>
            </a:fld>
            <a:endParaRPr lang="en-US"/>
          </a:p>
        </p:txBody>
      </p:sp>
      <p:sp>
        <p:nvSpPr>
          <p:cNvPr id="6" name="Footer Placeholder 5">
            <a:extLst>
              <a:ext uri="{FF2B5EF4-FFF2-40B4-BE49-F238E27FC236}">
                <a16:creationId xmlns:a16="http://schemas.microsoft.com/office/drawing/2014/main" id="{E8F87CBB-328C-0D6E-9B80-C71FA4CB3C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D9D0FE-1B00-4E09-F389-590A31C82F18}"/>
              </a:ext>
            </a:extLst>
          </p:cNvPr>
          <p:cNvSpPr>
            <a:spLocks noGrp="1"/>
          </p:cNvSpPr>
          <p:nvPr>
            <p:ph type="sldNum" sz="quarter" idx="12"/>
          </p:nvPr>
        </p:nvSpPr>
        <p:spPr/>
        <p:txBody>
          <a:bodyPr/>
          <a:lstStyle/>
          <a:p>
            <a:fld id="{105A2FD9-ED36-B24C-980A-6B9CA1C62CC0}" type="slidenum">
              <a:rPr lang="en-US" smtClean="0"/>
              <a:t>‹#›</a:t>
            </a:fld>
            <a:endParaRPr lang="en-US"/>
          </a:p>
        </p:txBody>
      </p:sp>
    </p:spTree>
    <p:extLst>
      <p:ext uri="{BB962C8B-B14F-4D97-AF65-F5344CB8AC3E}">
        <p14:creationId xmlns:p14="http://schemas.microsoft.com/office/powerpoint/2010/main" val="4126687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9D85F-4018-92C0-A939-FF7F5C60FD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7736A7-DEA9-5D6A-E3FA-5A8F30E806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5227E3-2422-11D7-CED3-9BF49EEF14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9CD7F3-F36C-B82D-79D9-3EB5E05BC5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4F20AA-7B43-493D-A9A5-898CA45258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DFA2DF-D829-5D6C-3504-17B29A9BD246}"/>
              </a:ext>
            </a:extLst>
          </p:cNvPr>
          <p:cNvSpPr>
            <a:spLocks noGrp="1"/>
          </p:cNvSpPr>
          <p:nvPr>
            <p:ph type="dt" sz="half" idx="10"/>
          </p:nvPr>
        </p:nvSpPr>
        <p:spPr/>
        <p:txBody>
          <a:bodyPr/>
          <a:lstStyle/>
          <a:p>
            <a:fld id="{EEF15244-4AC2-5742-BBD3-2092CB8772BC}" type="datetimeFigureOut">
              <a:rPr lang="en-US" smtClean="0"/>
              <a:t>9/15/25</a:t>
            </a:fld>
            <a:endParaRPr lang="en-US"/>
          </a:p>
        </p:txBody>
      </p:sp>
      <p:sp>
        <p:nvSpPr>
          <p:cNvPr id="8" name="Footer Placeholder 7">
            <a:extLst>
              <a:ext uri="{FF2B5EF4-FFF2-40B4-BE49-F238E27FC236}">
                <a16:creationId xmlns:a16="http://schemas.microsoft.com/office/drawing/2014/main" id="{5A0DA21E-A2FC-FD56-1C0E-928CA8D7716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A9452A-0B92-12F2-FCCF-FB32F1E55ECE}"/>
              </a:ext>
            </a:extLst>
          </p:cNvPr>
          <p:cNvSpPr>
            <a:spLocks noGrp="1"/>
          </p:cNvSpPr>
          <p:nvPr>
            <p:ph type="sldNum" sz="quarter" idx="12"/>
          </p:nvPr>
        </p:nvSpPr>
        <p:spPr/>
        <p:txBody>
          <a:bodyPr/>
          <a:lstStyle/>
          <a:p>
            <a:fld id="{105A2FD9-ED36-B24C-980A-6B9CA1C62CC0}" type="slidenum">
              <a:rPr lang="en-US" smtClean="0"/>
              <a:t>‹#›</a:t>
            </a:fld>
            <a:endParaRPr lang="en-US"/>
          </a:p>
        </p:txBody>
      </p:sp>
    </p:spTree>
    <p:extLst>
      <p:ext uri="{BB962C8B-B14F-4D97-AF65-F5344CB8AC3E}">
        <p14:creationId xmlns:p14="http://schemas.microsoft.com/office/powerpoint/2010/main" val="1956411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B30F2-EAC9-E3B8-22F0-3BBC56E06B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319591-97B9-4191-D72A-537BD950B4BD}"/>
              </a:ext>
            </a:extLst>
          </p:cNvPr>
          <p:cNvSpPr>
            <a:spLocks noGrp="1"/>
          </p:cNvSpPr>
          <p:nvPr>
            <p:ph type="dt" sz="half" idx="10"/>
          </p:nvPr>
        </p:nvSpPr>
        <p:spPr/>
        <p:txBody>
          <a:bodyPr/>
          <a:lstStyle/>
          <a:p>
            <a:fld id="{EEF15244-4AC2-5742-BBD3-2092CB8772BC}" type="datetimeFigureOut">
              <a:rPr lang="en-US" smtClean="0"/>
              <a:t>9/15/25</a:t>
            </a:fld>
            <a:endParaRPr lang="en-US"/>
          </a:p>
        </p:txBody>
      </p:sp>
      <p:sp>
        <p:nvSpPr>
          <p:cNvPr id="4" name="Footer Placeholder 3">
            <a:extLst>
              <a:ext uri="{FF2B5EF4-FFF2-40B4-BE49-F238E27FC236}">
                <a16:creationId xmlns:a16="http://schemas.microsoft.com/office/drawing/2014/main" id="{6E4FA256-AEF3-3341-5C8E-668653D50D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58B27F-1317-E7C1-273D-01E7467C7FDB}"/>
              </a:ext>
            </a:extLst>
          </p:cNvPr>
          <p:cNvSpPr>
            <a:spLocks noGrp="1"/>
          </p:cNvSpPr>
          <p:nvPr>
            <p:ph type="sldNum" sz="quarter" idx="12"/>
          </p:nvPr>
        </p:nvSpPr>
        <p:spPr/>
        <p:txBody>
          <a:bodyPr/>
          <a:lstStyle/>
          <a:p>
            <a:fld id="{105A2FD9-ED36-B24C-980A-6B9CA1C62CC0}" type="slidenum">
              <a:rPr lang="en-US" smtClean="0"/>
              <a:t>‹#›</a:t>
            </a:fld>
            <a:endParaRPr lang="en-US"/>
          </a:p>
        </p:txBody>
      </p:sp>
    </p:spTree>
    <p:extLst>
      <p:ext uri="{BB962C8B-B14F-4D97-AF65-F5344CB8AC3E}">
        <p14:creationId xmlns:p14="http://schemas.microsoft.com/office/powerpoint/2010/main" val="1630949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35F53C-639F-FF0F-290B-6E025D64BC9B}"/>
              </a:ext>
            </a:extLst>
          </p:cNvPr>
          <p:cNvSpPr>
            <a:spLocks noGrp="1"/>
          </p:cNvSpPr>
          <p:nvPr>
            <p:ph type="dt" sz="half" idx="10"/>
          </p:nvPr>
        </p:nvSpPr>
        <p:spPr/>
        <p:txBody>
          <a:bodyPr/>
          <a:lstStyle/>
          <a:p>
            <a:fld id="{EEF15244-4AC2-5742-BBD3-2092CB8772BC}" type="datetimeFigureOut">
              <a:rPr lang="en-US" smtClean="0"/>
              <a:t>9/15/25</a:t>
            </a:fld>
            <a:endParaRPr lang="en-US"/>
          </a:p>
        </p:txBody>
      </p:sp>
      <p:sp>
        <p:nvSpPr>
          <p:cNvPr id="3" name="Footer Placeholder 2">
            <a:extLst>
              <a:ext uri="{FF2B5EF4-FFF2-40B4-BE49-F238E27FC236}">
                <a16:creationId xmlns:a16="http://schemas.microsoft.com/office/drawing/2014/main" id="{1FA59F7F-AFF9-7CCF-D6B1-B953D84E0D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CA2DBE-48FE-CD8F-0614-42C233D71A25}"/>
              </a:ext>
            </a:extLst>
          </p:cNvPr>
          <p:cNvSpPr>
            <a:spLocks noGrp="1"/>
          </p:cNvSpPr>
          <p:nvPr>
            <p:ph type="sldNum" sz="quarter" idx="12"/>
          </p:nvPr>
        </p:nvSpPr>
        <p:spPr/>
        <p:txBody>
          <a:bodyPr/>
          <a:lstStyle/>
          <a:p>
            <a:fld id="{105A2FD9-ED36-B24C-980A-6B9CA1C62CC0}" type="slidenum">
              <a:rPr lang="en-US" smtClean="0"/>
              <a:t>‹#›</a:t>
            </a:fld>
            <a:endParaRPr lang="en-US"/>
          </a:p>
        </p:txBody>
      </p:sp>
    </p:spTree>
    <p:extLst>
      <p:ext uri="{BB962C8B-B14F-4D97-AF65-F5344CB8AC3E}">
        <p14:creationId xmlns:p14="http://schemas.microsoft.com/office/powerpoint/2010/main" val="1216772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A0BFD-A7AA-F26C-4BC9-092D24BC67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CADA21-6D3E-1BDB-8CC4-7D90B30524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2A13C9-0B99-E0E8-6E1A-9D6690A7D3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524CC5-3E02-0660-6B30-766984E224CF}"/>
              </a:ext>
            </a:extLst>
          </p:cNvPr>
          <p:cNvSpPr>
            <a:spLocks noGrp="1"/>
          </p:cNvSpPr>
          <p:nvPr>
            <p:ph type="dt" sz="half" idx="10"/>
          </p:nvPr>
        </p:nvSpPr>
        <p:spPr/>
        <p:txBody>
          <a:bodyPr/>
          <a:lstStyle/>
          <a:p>
            <a:fld id="{EEF15244-4AC2-5742-BBD3-2092CB8772BC}" type="datetimeFigureOut">
              <a:rPr lang="en-US" smtClean="0"/>
              <a:t>9/15/25</a:t>
            </a:fld>
            <a:endParaRPr lang="en-US"/>
          </a:p>
        </p:txBody>
      </p:sp>
      <p:sp>
        <p:nvSpPr>
          <p:cNvPr id="6" name="Footer Placeholder 5">
            <a:extLst>
              <a:ext uri="{FF2B5EF4-FFF2-40B4-BE49-F238E27FC236}">
                <a16:creationId xmlns:a16="http://schemas.microsoft.com/office/drawing/2014/main" id="{51CF0924-564B-9535-5A4E-F9B6E70642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566242-4BE9-753D-1D26-7736BD0D57CC}"/>
              </a:ext>
            </a:extLst>
          </p:cNvPr>
          <p:cNvSpPr>
            <a:spLocks noGrp="1"/>
          </p:cNvSpPr>
          <p:nvPr>
            <p:ph type="sldNum" sz="quarter" idx="12"/>
          </p:nvPr>
        </p:nvSpPr>
        <p:spPr/>
        <p:txBody>
          <a:bodyPr/>
          <a:lstStyle/>
          <a:p>
            <a:fld id="{105A2FD9-ED36-B24C-980A-6B9CA1C62CC0}" type="slidenum">
              <a:rPr lang="en-US" smtClean="0"/>
              <a:t>‹#›</a:t>
            </a:fld>
            <a:endParaRPr lang="en-US"/>
          </a:p>
        </p:txBody>
      </p:sp>
    </p:spTree>
    <p:extLst>
      <p:ext uri="{BB962C8B-B14F-4D97-AF65-F5344CB8AC3E}">
        <p14:creationId xmlns:p14="http://schemas.microsoft.com/office/powerpoint/2010/main" val="1147432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56909-0F91-898B-AE99-B4DD2FF93E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B05BE0-7731-D338-9A6D-99522CDB13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BF66BAC-7283-D48A-56B9-27DA883A3C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17BC59-01C0-523D-5FB7-E5590115D507}"/>
              </a:ext>
            </a:extLst>
          </p:cNvPr>
          <p:cNvSpPr>
            <a:spLocks noGrp="1"/>
          </p:cNvSpPr>
          <p:nvPr>
            <p:ph type="dt" sz="half" idx="10"/>
          </p:nvPr>
        </p:nvSpPr>
        <p:spPr/>
        <p:txBody>
          <a:bodyPr/>
          <a:lstStyle/>
          <a:p>
            <a:fld id="{EEF15244-4AC2-5742-BBD3-2092CB8772BC}" type="datetimeFigureOut">
              <a:rPr lang="en-US" smtClean="0"/>
              <a:t>9/15/25</a:t>
            </a:fld>
            <a:endParaRPr lang="en-US"/>
          </a:p>
        </p:txBody>
      </p:sp>
      <p:sp>
        <p:nvSpPr>
          <p:cNvPr id="6" name="Footer Placeholder 5">
            <a:extLst>
              <a:ext uri="{FF2B5EF4-FFF2-40B4-BE49-F238E27FC236}">
                <a16:creationId xmlns:a16="http://schemas.microsoft.com/office/drawing/2014/main" id="{B9ECBC1B-9157-838E-6A46-86B47F1AAE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E14AF9-97A3-ECBC-5184-491EDBC76F30}"/>
              </a:ext>
            </a:extLst>
          </p:cNvPr>
          <p:cNvSpPr>
            <a:spLocks noGrp="1"/>
          </p:cNvSpPr>
          <p:nvPr>
            <p:ph type="sldNum" sz="quarter" idx="12"/>
          </p:nvPr>
        </p:nvSpPr>
        <p:spPr/>
        <p:txBody>
          <a:bodyPr/>
          <a:lstStyle/>
          <a:p>
            <a:fld id="{105A2FD9-ED36-B24C-980A-6B9CA1C62CC0}" type="slidenum">
              <a:rPr lang="en-US" smtClean="0"/>
              <a:t>‹#›</a:t>
            </a:fld>
            <a:endParaRPr lang="en-US"/>
          </a:p>
        </p:txBody>
      </p:sp>
    </p:spTree>
    <p:extLst>
      <p:ext uri="{BB962C8B-B14F-4D97-AF65-F5344CB8AC3E}">
        <p14:creationId xmlns:p14="http://schemas.microsoft.com/office/powerpoint/2010/main" val="590977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A02A0-354A-C6A4-8C44-132F989B37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6BA878E-A0B4-7CBB-287C-B8E916C3F4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B0491D-6D04-CBA6-B61B-A22B59C599D1}"/>
              </a:ext>
            </a:extLst>
          </p:cNvPr>
          <p:cNvSpPr>
            <a:spLocks noGrp="1"/>
          </p:cNvSpPr>
          <p:nvPr>
            <p:ph type="dt" sz="half" idx="10"/>
          </p:nvPr>
        </p:nvSpPr>
        <p:spPr/>
        <p:txBody>
          <a:bodyPr/>
          <a:lstStyle/>
          <a:p>
            <a:fld id="{EEF15244-4AC2-5742-BBD3-2092CB8772BC}" type="datetimeFigureOut">
              <a:rPr lang="en-US" smtClean="0"/>
              <a:t>9/15/25</a:t>
            </a:fld>
            <a:endParaRPr lang="en-US"/>
          </a:p>
        </p:txBody>
      </p:sp>
      <p:sp>
        <p:nvSpPr>
          <p:cNvPr id="5" name="Footer Placeholder 4">
            <a:extLst>
              <a:ext uri="{FF2B5EF4-FFF2-40B4-BE49-F238E27FC236}">
                <a16:creationId xmlns:a16="http://schemas.microsoft.com/office/drawing/2014/main" id="{E8F00D8C-7677-B0CE-A482-CD9B549568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D84158-AD5A-2651-E020-BC808445E9F3}"/>
              </a:ext>
            </a:extLst>
          </p:cNvPr>
          <p:cNvSpPr>
            <a:spLocks noGrp="1"/>
          </p:cNvSpPr>
          <p:nvPr>
            <p:ph type="sldNum" sz="quarter" idx="12"/>
          </p:nvPr>
        </p:nvSpPr>
        <p:spPr/>
        <p:txBody>
          <a:bodyPr/>
          <a:lstStyle/>
          <a:p>
            <a:fld id="{105A2FD9-ED36-B24C-980A-6B9CA1C62CC0}" type="slidenum">
              <a:rPr lang="en-US" smtClean="0"/>
              <a:t>‹#›</a:t>
            </a:fld>
            <a:endParaRPr lang="en-US"/>
          </a:p>
        </p:txBody>
      </p:sp>
    </p:spTree>
    <p:extLst>
      <p:ext uri="{BB962C8B-B14F-4D97-AF65-F5344CB8AC3E}">
        <p14:creationId xmlns:p14="http://schemas.microsoft.com/office/powerpoint/2010/main" val="3114039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1F3B5B-94E6-A7A2-0F1F-664FD984EF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509EAD-8855-B6CC-3B11-278E3B1A21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8FCE3F-1F42-A789-1A0C-7107601DF039}"/>
              </a:ext>
            </a:extLst>
          </p:cNvPr>
          <p:cNvSpPr>
            <a:spLocks noGrp="1"/>
          </p:cNvSpPr>
          <p:nvPr>
            <p:ph type="dt" sz="half" idx="10"/>
          </p:nvPr>
        </p:nvSpPr>
        <p:spPr/>
        <p:txBody>
          <a:bodyPr/>
          <a:lstStyle/>
          <a:p>
            <a:fld id="{EEF15244-4AC2-5742-BBD3-2092CB8772BC}" type="datetimeFigureOut">
              <a:rPr lang="en-US" smtClean="0"/>
              <a:t>9/15/25</a:t>
            </a:fld>
            <a:endParaRPr lang="en-US"/>
          </a:p>
        </p:txBody>
      </p:sp>
      <p:sp>
        <p:nvSpPr>
          <p:cNvPr id="5" name="Footer Placeholder 4">
            <a:extLst>
              <a:ext uri="{FF2B5EF4-FFF2-40B4-BE49-F238E27FC236}">
                <a16:creationId xmlns:a16="http://schemas.microsoft.com/office/drawing/2014/main" id="{C6C83A43-F521-002E-31B8-34D01E83E2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D99D97-4FAC-A9B5-43FB-DECD2E0A3840}"/>
              </a:ext>
            </a:extLst>
          </p:cNvPr>
          <p:cNvSpPr>
            <a:spLocks noGrp="1"/>
          </p:cNvSpPr>
          <p:nvPr>
            <p:ph type="sldNum" sz="quarter" idx="12"/>
          </p:nvPr>
        </p:nvSpPr>
        <p:spPr/>
        <p:txBody>
          <a:bodyPr/>
          <a:lstStyle/>
          <a:p>
            <a:fld id="{105A2FD9-ED36-B24C-980A-6B9CA1C62CC0}" type="slidenum">
              <a:rPr lang="en-US" smtClean="0"/>
              <a:t>‹#›</a:t>
            </a:fld>
            <a:endParaRPr lang="en-US"/>
          </a:p>
        </p:txBody>
      </p:sp>
    </p:spTree>
    <p:extLst>
      <p:ext uri="{BB962C8B-B14F-4D97-AF65-F5344CB8AC3E}">
        <p14:creationId xmlns:p14="http://schemas.microsoft.com/office/powerpoint/2010/main" val="3515417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C110E5-FE97-6276-3295-DFEEBBCF0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3AD4579-3271-C1DD-F618-F50996E2A3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2C6490-4DB0-9DD6-0A3A-0C9EBD2029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F15244-4AC2-5742-BBD3-2092CB8772BC}" type="datetimeFigureOut">
              <a:rPr lang="en-US" smtClean="0"/>
              <a:t>9/15/25</a:t>
            </a:fld>
            <a:endParaRPr lang="en-US"/>
          </a:p>
        </p:txBody>
      </p:sp>
      <p:sp>
        <p:nvSpPr>
          <p:cNvPr id="5" name="Footer Placeholder 4">
            <a:extLst>
              <a:ext uri="{FF2B5EF4-FFF2-40B4-BE49-F238E27FC236}">
                <a16:creationId xmlns:a16="http://schemas.microsoft.com/office/drawing/2014/main" id="{27F465F4-BF50-6622-9F72-1EBA574B3B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8DFB8CA-1F77-1DC3-2F00-D082AD7E02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5A2FD9-ED36-B24C-980A-6B9CA1C62CC0}" type="slidenum">
              <a:rPr lang="en-US" smtClean="0"/>
              <a:t>‹#›</a:t>
            </a:fld>
            <a:endParaRPr lang="en-US"/>
          </a:p>
        </p:txBody>
      </p:sp>
    </p:spTree>
    <p:extLst>
      <p:ext uri="{BB962C8B-B14F-4D97-AF65-F5344CB8AC3E}">
        <p14:creationId xmlns:p14="http://schemas.microsoft.com/office/powerpoint/2010/main" val="42661684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87C619C-EBAB-488E-96B9-153AA4C9B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30DA1C1-36FD-41D8-9826-EE797BF39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53312" cy="6858000"/>
          </a:xfrm>
          <a:custGeom>
            <a:avLst/>
            <a:gdLst>
              <a:gd name="connsiteX0" fmla="*/ 0 w 7433452"/>
              <a:gd name="connsiteY0" fmla="*/ 0 h 6858000"/>
              <a:gd name="connsiteX1" fmla="*/ 1592736 w 7433452"/>
              <a:gd name="connsiteY1" fmla="*/ 0 h 6858000"/>
              <a:gd name="connsiteX2" fmla="*/ 2171700 w 7433452"/>
              <a:gd name="connsiteY2" fmla="*/ 0 h 6858000"/>
              <a:gd name="connsiteX3" fmla="*/ 2762696 w 7433452"/>
              <a:gd name="connsiteY3" fmla="*/ 0 h 6858000"/>
              <a:gd name="connsiteX4" fmla="*/ 2829254 w 7433452"/>
              <a:gd name="connsiteY4" fmla="*/ 0 h 6858000"/>
              <a:gd name="connsiteX5" fmla="*/ 7415310 w 7433452"/>
              <a:gd name="connsiteY5" fmla="*/ 0 h 6858000"/>
              <a:gd name="connsiteX6" fmla="*/ 7405703 w 7433452"/>
              <a:gd name="connsiteY6" fmla="*/ 94814 h 6858000"/>
              <a:gd name="connsiteX7" fmla="*/ 7410754 w 7433452"/>
              <a:gd name="connsiteY7" fmla="*/ 421796 h 6858000"/>
              <a:gd name="connsiteX8" fmla="*/ 7414688 w 7433452"/>
              <a:gd name="connsiteY8" fmla="*/ 812192 h 6858000"/>
              <a:gd name="connsiteX9" fmla="*/ 7395017 w 7433452"/>
              <a:gd name="connsiteY9" fmla="*/ 1113642 h 6858000"/>
              <a:gd name="connsiteX10" fmla="*/ 7422810 w 7433452"/>
              <a:gd name="connsiteY10" fmla="*/ 1796708 h 6858000"/>
              <a:gd name="connsiteX11" fmla="*/ 7421161 w 7433452"/>
              <a:gd name="connsiteY11" fmla="*/ 2327333 h 6858000"/>
              <a:gd name="connsiteX12" fmla="*/ 7412023 w 7433452"/>
              <a:gd name="connsiteY12" fmla="*/ 2784280 h 6858000"/>
              <a:gd name="connsiteX13" fmla="*/ 7417480 w 7433452"/>
              <a:gd name="connsiteY13" fmla="*/ 2985458 h 6858000"/>
              <a:gd name="connsiteX14" fmla="*/ 7403774 w 7433452"/>
              <a:gd name="connsiteY14" fmla="*/ 3531096 h 6858000"/>
              <a:gd name="connsiteX15" fmla="*/ 7414307 w 7433452"/>
              <a:gd name="connsiteY15" fmla="*/ 4336830 h 6858000"/>
              <a:gd name="connsiteX16" fmla="*/ 7413419 w 7433452"/>
              <a:gd name="connsiteY16" fmla="*/ 5026893 h 6858000"/>
              <a:gd name="connsiteX17" fmla="*/ 7417734 w 7433452"/>
              <a:gd name="connsiteY17" fmla="*/ 5252632 h 6858000"/>
              <a:gd name="connsiteX18" fmla="*/ 7417734 w 7433452"/>
              <a:gd name="connsiteY18" fmla="*/ 5466282 h 6858000"/>
              <a:gd name="connsiteX19" fmla="*/ 7379659 w 7433452"/>
              <a:gd name="connsiteY19" fmla="*/ 6121225 h 6858000"/>
              <a:gd name="connsiteX20" fmla="*/ 7395115 w 7433452"/>
              <a:gd name="connsiteY20" fmla="*/ 6708907 h 6858000"/>
              <a:gd name="connsiteX21" fmla="*/ 7412408 w 7433452"/>
              <a:gd name="connsiteY21" fmla="*/ 6858000 h 6858000"/>
              <a:gd name="connsiteX22" fmla="*/ 2829254 w 7433452"/>
              <a:gd name="connsiteY22" fmla="*/ 6858000 h 6858000"/>
              <a:gd name="connsiteX23" fmla="*/ 2762696 w 7433452"/>
              <a:gd name="connsiteY23" fmla="*/ 6858000 h 6858000"/>
              <a:gd name="connsiteX24" fmla="*/ 2171700 w 7433452"/>
              <a:gd name="connsiteY24" fmla="*/ 6858000 h 6858000"/>
              <a:gd name="connsiteX25" fmla="*/ 1592736 w 7433452"/>
              <a:gd name="connsiteY25" fmla="*/ 6858000 h 6858000"/>
              <a:gd name="connsiteX26" fmla="*/ 0 w 7433452"/>
              <a:gd name="connsiteY2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433452" h="6858000">
                <a:moveTo>
                  <a:pt x="0" y="0"/>
                </a:moveTo>
                <a:lnTo>
                  <a:pt x="1592736" y="0"/>
                </a:lnTo>
                <a:lnTo>
                  <a:pt x="2171700" y="0"/>
                </a:lnTo>
                <a:lnTo>
                  <a:pt x="2762696" y="0"/>
                </a:lnTo>
                <a:lnTo>
                  <a:pt x="2829254" y="0"/>
                </a:lnTo>
                <a:lnTo>
                  <a:pt x="7415310" y="0"/>
                </a:lnTo>
                <a:lnTo>
                  <a:pt x="7405703" y="94814"/>
                </a:lnTo>
                <a:cubicBezTo>
                  <a:pt x="7398856" y="203629"/>
                  <a:pt x="7403520" y="312712"/>
                  <a:pt x="7410754" y="421796"/>
                </a:cubicBezTo>
                <a:cubicBezTo>
                  <a:pt x="7421580" y="551656"/>
                  <a:pt x="7422900" y="682144"/>
                  <a:pt x="7414688" y="812192"/>
                </a:cubicBezTo>
                <a:cubicBezTo>
                  <a:pt x="7406693" y="912591"/>
                  <a:pt x="7397682" y="1012988"/>
                  <a:pt x="7395017" y="1113642"/>
                </a:cubicBezTo>
                <a:cubicBezTo>
                  <a:pt x="7388670" y="1342689"/>
                  <a:pt x="7407708" y="1569316"/>
                  <a:pt x="7422810" y="1796708"/>
                </a:cubicBezTo>
                <a:cubicBezTo>
                  <a:pt x="7434487" y="1973710"/>
                  <a:pt x="7439944" y="2150457"/>
                  <a:pt x="7421161" y="2327333"/>
                </a:cubicBezTo>
                <a:cubicBezTo>
                  <a:pt x="7405170" y="2479266"/>
                  <a:pt x="7396793" y="2631453"/>
                  <a:pt x="7412023" y="2784280"/>
                </a:cubicBezTo>
                <a:cubicBezTo>
                  <a:pt x="7418749" y="2851085"/>
                  <a:pt x="7425984" y="2918653"/>
                  <a:pt x="7417480" y="2985458"/>
                </a:cubicBezTo>
                <a:cubicBezTo>
                  <a:pt x="7394508" y="3167039"/>
                  <a:pt x="7398063" y="3349132"/>
                  <a:pt x="7403774" y="3531096"/>
                </a:cubicBezTo>
                <a:cubicBezTo>
                  <a:pt x="7412277" y="3799715"/>
                  <a:pt x="7426364" y="4067954"/>
                  <a:pt x="7414307" y="4336830"/>
                </a:cubicBezTo>
                <a:cubicBezTo>
                  <a:pt x="7404027" y="4566639"/>
                  <a:pt x="7420653" y="4796831"/>
                  <a:pt x="7413419" y="5026893"/>
                </a:cubicBezTo>
                <a:cubicBezTo>
                  <a:pt x="7410982" y="5102162"/>
                  <a:pt x="7412429" y="5177504"/>
                  <a:pt x="7417734" y="5252632"/>
                </a:cubicBezTo>
                <a:cubicBezTo>
                  <a:pt x="7424271" y="5323700"/>
                  <a:pt x="7424271" y="5395213"/>
                  <a:pt x="7417734" y="5466282"/>
                </a:cubicBezTo>
                <a:cubicBezTo>
                  <a:pt x="7393239" y="5683875"/>
                  <a:pt x="7383214" y="5902486"/>
                  <a:pt x="7379659" y="6121225"/>
                </a:cubicBezTo>
                <a:cubicBezTo>
                  <a:pt x="7376423" y="6317442"/>
                  <a:pt x="7378041" y="6513586"/>
                  <a:pt x="7395115" y="6708907"/>
                </a:cubicBezTo>
                <a:lnTo>
                  <a:pt x="7412408" y="6858000"/>
                </a:lnTo>
                <a:lnTo>
                  <a:pt x="2829254" y="6858000"/>
                </a:lnTo>
                <a:lnTo>
                  <a:pt x="2762696" y="6858000"/>
                </a:lnTo>
                <a:lnTo>
                  <a:pt x="2171700" y="6858000"/>
                </a:lnTo>
                <a:lnTo>
                  <a:pt x="159273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itle 4">
            <a:extLst>
              <a:ext uri="{FF2B5EF4-FFF2-40B4-BE49-F238E27FC236}">
                <a16:creationId xmlns:a16="http://schemas.microsoft.com/office/drawing/2014/main" id="{A9FC0304-4874-D563-AD11-899BE8CC21F7}"/>
              </a:ext>
            </a:extLst>
          </p:cNvPr>
          <p:cNvSpPr>
            <a:spLocks noGrp="1"/>
          </p:cNvSpPr>
          <p:nvPr>
            <p:ph type="title"/>
          </p:nvPr>
        </p:nvSpPr>
        <p:spPr>
          <a:xfrm>
            <a:off x="838200" y="484632"/>
            <a:ext cx="6081713" cy="3566160"/>
          </a:xfrm>
        </p:spPr>
        <p:txBody>
          <a:bodyPr vert="horz" lIns="91440" tIns="45720" rIns="91440" bIns="45720" rtlCol="0" anchor="b">
            <a:normAutofit/>
          </a:bodyPr>
          <a:lstStyle/>
          <a:p>
            <a:r>
              <a:rPr lang="en-US" sz="6600" b="1">
                <a:solidFill>
                  <a:srgbClr val="FFFFFF"/>
                </a:solidFill>
              </a:rPr>
              <a:t>HIVE </a:t>
            </a:r>
            <a:br>
              <a:rPr lang="en-US" sz="6600" b="1">
                <a:solidFill>
                  <a:srgbClr val="FFFFFF"/>
                </a:solidFill>
              </a:rPr>
            </a:br>
            <a:r>
              <a:rPr lang="en-US" sz="6600" b="1">
                <a:solidFill>
                  <a:srgbClr val="FFFFFF"/>
                </a:solidFill>
              </a:rPr>
              <a:t>to </a:t>
            </a:r>
            <a:br>
              <a:rPr lang="en-US" sz="6600" b="1">
                <a:solidFill>
                  <a:srgbClr val="FFFFFF"/>
                </a:solidFill>
              </a:rPr>
            </a:br>
            <a:r>
              <a:rPr lang="en-US" sz="6600" b="1">
                <a:solidFill>
                  <a:srgbClr val="FFFFFF"/>
                </a:solidFill>
              </a:rPr>
              <a:t>ICEBERG</a:t>
            </a:r>
            <a:endParaRPr lang="en-US" sz="6600" b="1" dirty="0">
              <a:solidFill>
                <a:srgbClr val="FFFFFF"/>
              </a:solidFill>
            </a:endParaRPr>
          </a:p>
        </p:txBody>
      </p:sp>
      <p:pic>
        <p:nvPicPr>
          <p:cNvPr id="6" name="Picture 5">
            <a:extLst>
              <a:ext uri="{FF2B5EF4-FFF2-40B4-BE49-F238E27FC236}">
                <a16:creationId xmlns:a16="http://schemas.microsoft.com/office/drawing/2014/main" id="{1442639A-12AA-A20C-92F4-9DBAC5F66D76}"/>
              </a:ext>
            </a:extLst>
          </p:cNvPr>
          <p:cNvPicPr>
            <a:picLocks noChangeAspect="1"/>
          </p:cNvPicPr>
          <p:nvPr/>
        </p:nvPicPr>
        <p:blipFill>
          <a:blip r:embed="rId2"/>
          <a:stretch>
            <a:fillRect/>
          </a:stretch>
        </p:blipFill>
        <p:spPr>
          <a:xfrm>
            <a:off x="8291837" y="524960"/>
            <a:ext cx="3061963" cy="2904040"/>
          </a:xfrm>
          <a:prstGeom prst="rect">
            <a:avLst/>
          </a:prstGeom>
        </p:spPr>
      </p:pic>
      <p:sp>
        <p:nvSpPr>
          <p:cNvPr id="16" name="sketch line">
            <a:extLst>
              <a:ext uri="{FF2B5EF4-FFF2-40B4-BE49-F238E27FC236}">
                <a16:creationId xmlns:a16="http://schemas.microsoft.com/office/drawing/2014/main" id="{35BC54F7-1315-4D6C-9420-A5BF0CDDB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5475" y="4252192"/>
            <a:ext cx="4056549" cy="18288"/>
          </a:xfrm>
          <a:custGeom>
            <a:avLst/>
            <a:gdLst>
              <a:gd name="connsiteX0" fmla="*/ 0 w 4056549"/>
              <a:gd name="connsiteY0" fmla="*/ 0 h 18288"/>
              <a:gd name="connsiteX1" fmla="*/ 676092 w 4056549"/>
              <a:gd name="connsiteY1" fmla="*/ 0 h 18288"/>
              <a:gd name="connsiteX2" fmla="*/ 1271052 w 4056549"/>
              <a:gd name="connsiteY2" fmla="*/ 0 h 18288"/>
              <a:gd name="connsiteX3" fmla="*/ 1947144 w 4056549"/>
              <a:gd name="connsiteY3" fmla="*/ 0 h 18288"/>
              <a:gd name="connsiteX4" fmla="*/ 2501539 w 4056549"/>
              <a:gd name="connsiteY4" fmla="*/ 0 h 18288"/>
              <a:gd name="connsiteX5" fmla="*/ 3137065 w 4056549"/>
              <a:gd name="connsiteY5" fmla="*/ 0 h 18288"/>
              <a:gd name="connsiteX6" fmla="*/ 4056549 w 4056549"/>
              <a:gd name="connsiteY6" fmla="*/ 0 h 18288"/>
              <a:gd name="connsiteX7" fmla="*/ 4056549 w 4056549"/>
              <a:gd name="connsiteY7" fmla="*/ 18288 h 18288"/>
              <a:gd name="connsiteX8" fmla="*/ 3380458 w 4056549"/>
              <a:gd name="connsiteY8" fmla="*/ 18288 h 18288"/>
              <a:gd name="connsiteX9" fmla="*/ 2663801 w 4056549"/>
              <a:gd name="connsiteY9" fmla="*/ 18288 h 18288"/>
              <a:gd name="connsiteX10" fmla="*/ 2068840 w 4056549"/>
              <a:gd name="connsiteY10" fmla="*/ 18288 h 18288"/>
              <a:gd name="connsiteX11" fmla="*/ 1311618 w 4056549"/>
              <a:gd name="connsiteY11" fmla="*/ 18288 h 18288"/>
              <a:gd name="connsiteX12" fmla="*/ 716657 w 4056549"/>
              <a:gd name="connsiteY12" fmla="*/ 18288 h 18288"/>
              <a:gd name="connsiteX13" fmla="*/ 0 w 4056549"/>
              <a:gd name="connsiteY13" fmla="*/ 18288 h 18288"/>
              <a:gd name="connsiteX14" fmla="*/ 0 w 4056549"/>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6549" h="18288" fill="none" extrusionOk="0">
                <a:moveTo>
                  <a:pt x="0" y="0"/>
                </a:moveTo>
                <a:cubicBezTo>
                  <a:pt x="324395" y="-12272"/>
                  <a:pt x="437185" y="20747"/>
                  <a:pt x="676092" y="0"/>
                </a:cubicBezTo>
                <a:cubicBezTo>
                  <a:pt x="914999" y="-20747"/>
                  <a:pt x="980886" y="20074"/>
                  <a:pt x="1271052" y="0"/>
                </a:cubicBezTo>
                <a:cubicBezTo>
                  <a:pt x="1561218" y="-20074"/>
                  <a:pt x="1609815" y="19965"/>
                  <a:pt x="1947144" y="0"/>
                </a:cubicBezTo>
                <a:cubicBezTo>
                  <a:pt x="2284473" y="-19965"/>
                  <a:pt x="2317816" y="-23682"/>
                  <a:pt x="2501539" y="0"/>
                </a:cubicBezTo>
                <a:cubicBezTo>
                  <a:pt x="2685262" y="23682"/>
                  <a:pt x="2879461" y="12712"/>
                  <a:pt x="3137065" y="0"/>
                </a:cubicBezTo>
                <a:cubicBezTo>
                  <a:pt x="3394669" y="-12712"/>
                  <a:pt x="3618306" y="-41742"/>
                  <a:pt x="4056549" y="0"/>
                </a:cubicBezTo>
                <a:cubicBezTo>
                  <a:pt x="4056201" y="6465"/>
                  <a:pt x="4056979" y="10922"/>
                  <a:pt x="4056549" y="18288"/>
                </a:cubicBezTo>
                <a:cubicBezTo>
                  <a:pt x="3807729" y="-7540"/>
                  <a:pt x="3536237" y="12619"/>
                  <a:pt x="3380458" y="18288"/>
                </a:cubicBezTo>
                <a:cubicBezTo>
                  <a:pt x="3224679" y="23957"/>
                  <a:pt x="2967497" y="23368"/>
                  <a:pt x="2663801" y="18288"/>
                </a:cubicBezTo>
                <a:cubicBezTo>
                  <a:pt x="2360105" y="13208"/>
                  <a:pt x="2359716" y="-8821"/>
                  <a:pt x="2068840" y="18288"/>
                </a:cubicBezTo>
                <a:cubicBezTo>
                  <a:pt x="1777964" y="45397"/>
                  <a:pt x="1641909" y="31681"/>
                  <a:pt x="1311618" y="18288"/>
                </a:cubicBezTo>
                <a:cubicBezTo>
                  <a:pt x="981327" y="4895"/>
                  <a:pt x="990410" y="11155"/>
                  <a:pt x="716657" y="18288"/>
                </a:cubicBezTo>
                <a:cubicBezTo>
                  <a:pt x="442904" y="25421"/>
                  <a:pt x="330722" y="13665"/>
                  <a:pt x="0" y="18288"/>
                </a:cubicBezTo>
                <a:cubicBezTo>
                  <a:pt x="75" y="12069"/>
                  <a:pt x="515" y="5650"/>
                  <a:pt x="0" y="0"/>
                </a:cubicBezTo>
                <a:close/>
              </a:path>
              <a:path w="4056549" h="18288" stroke="0" extrusionOk="0">
                <a:moveTo>
                  <a:pt x="0" y="0"/>
                </a:moveTo>
                <a:cubicBezTo>
                  <a:pt x="175099" y="13469"/>
                  <a:pt x="459673" y="14529"/>
                  <a:pt x="594961" y="0"/>
                </a:cubicBezTo>
                <a:cubicBezTo>
                  <a:pt x="730249" y="-14529"/>
                  <a:pt x="873178" y="22015"/>
                  <a:pt x="1149356" y="0"/>
                </a:cubicBezTo>
                <a:cubicBezTo>
                  <a:pt x="1425534" y="-22015"/>
                  <a:pt x="1498871" y="-21513"/>
                  <a:pt x="1744316" y="0"/>
                </a:cubicBezTo>
                <a:cubicBezTo>
                  <a:pt x="1989761" y="21513"/>
                  <a:pt x="2112991" y="-46"/>
                  <a:pt x="2420408" y="0"/>
                </a:cubicBezTo>
                <a:cubicBezTo>
                  <a:pt x="2727825" y="46"/>
                  <a:pt x="2880256" y="-10040"/>
                  <a:pt x="3137065" y="0"/>
                </a:cubicBezTo>
                <a:cubicBezTo>
                  <a:pt x="3393874" y="10040"/>
                  <a:pt x="3704325" y="-6685"/>
                  <a:pt x="4056549" y="0"/>
                </a:cubicBezTo>
                <a:cubicBezTo>
                  <a:pt x="4055732" y="6895"/>
                  <a:pt x="4055770" y="11206"/>
                  <a:pt x="4056549" y="18288"/>
                </a:cubicBezTo>
                <a:cubicBezTo>
                  <a:pt x="3812770" y="11959"/>
                  <a:pt x="3533996" y="-5717"/>
                  <a:pt x="3299327" y="18288"/>
                </a:cubicBezTo>
                <a:cubicBezTo>
                  <a:pt x="3064658" y="42293"/>
                  <a:pt x="2940381" y="24492"/>
                  <a:pt x="2744931" y="18288"/>
                </a:cubicBezTo>
                <a:cubicBezTo>
                  <a:pt x="2549481" y="12084"/>
                  <a:pt x="2252169" y="51841"/>
                  <a:pt x="1987709" y="18288"/>
                </a:cubicBezTo>
                <a:cubicBezTo>
                  <a:pt x="1723249" y="-15265"/>
                  <a:pt x="1438946" y="3423"/>
                  <a:pt x="1230487" y="18288"/>
                </a:cubicBezTo>
                <a:cubicBezTo>
                  <a:pt x="1022028" y="33153"/>
                  <a:pt x="795957" y="18596"/>
                  <a:pt x="676092" y="18288"/>
                </a:cubicBezTo>
                <a:cubicBezTo>
                  <a:pt x="556227" y="17980"/>
                  <a:pt x="334853" y="39451"/>
                  <a:pt x="0" y="18288"/>
                </a:cubicBezTo>
                <a:cubicBezTo>
                  <a:pt x="95" y="14343"/>
                  <a:pt x="742" y="6860"/>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827650F9-5C4E-33CD-B5BD-6A8A997F8E30}"/>
              </a:ext>
            </a:extLst>
          </p:cNvPr>
          <p:cNvPicPr>
            <a:picLocks noChangeAspect="1"/>
          </p:cNvPicPr>
          <p:nvPr/>
        </p:nvPicPr>
        <p:blipFill>
          <a:blip r:embed="rId3"/>
          <a:stretch>
            <a:fillRect/>
          </a:stretch>
        </p:blipFill>
        <p:spPr>
          <a:xfrm>
            <a:off x="7856858" y="4270480"/>
            <a:ext cx="3931920" cy="933830"/>
          </a:xfrm>
          <a:prstGeom prst="rect">
            <a:avLst/>
          </a:prstGeom>
        </p:spPr>
      </p:pic>
    </p:spTree>
    <p:extLst>
      <p:ext uri="{BB962C8B-B14F-4D97-AF65-F5344CB8AC3E}">
        <p14:creationId xmlns:p14="http://schemas.microsoft.com/office/powerpoint/2010/main" val="2296190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C625E-CB58-6C2B-6187-4945E35A3734}"/>
              </a:ext>
            </a:extLst>
          </p:cNvPr>
          <p:cNvSpPr>
            <a:spLocks noGrp="1"/>
          </p:cNvSpPr>
          <p:nvPr>
            <p:ph type="title"/>
          </p:nvPr>
        </p:nvSpPr>
        <p:spPr>
          <a:xfrm>
            <a:off x="2680729" y="365125"/>
            <a:ext cx="5264665" cy="1325563"/>
          </a:xfrm>
        </p:spPr>
        <p:txBody>
          <a:bodyPr/>
          <a:lstStyle/>
          <a:p>
            <a:r>
              <a:rPr lang="en-US" dirty="0"/>
              <a:t>Apache Hive</a:t>
            </a:r>
          </a:p>
        </p:txBody>
      </p:sp>
      <p:sp>
        <p:nvSpPr>
          <p:cNvPr id="3" name="Content Placeholder 2">
            <a:extLst>
              <a:ext uri="{FF2B5EF4-FFF2-40B4-BE49-F238E27FC236}">
                <a16:creationId xmlns:a16="http://schemas.microsoft.com/office/drawing/2014/main" id="{846704E0-3C21-B6E0-2AF4-8158F3B9B4BC}"/>
              </a:ext>
            </a:extLst>
          </p:cNvPr>
          <p:cNvSpPr>
            <a:spLocks noGrp="1"/>
          </p:cNvSpPr>
          <p:nvPr>
            <p:ph idx="1"/>
          </p:nvPr>
        </p:nvSpPr>
        <p:spPr/>
        <p:txBody>
          <a:bodyPr/>
          <a:lstStyle/>
          <a:p>
            <a:endParaRPr lang="en-US" dirty="0"/>
          </a:p>
          <a:p>
            <a:r>
              <a:rPr lang="en-US" dirty="0"/>
              <a:t>Apache Hive is open-source data warehouse software project built on top of Apache Hadoop to provide data query and analysis capabilities via a SQL-like interface. </a:t>
            </a:r>
          </a:p>
          <a:p>
            <a:endParaRPr lang="en-US" dirty="0"/>
          </a:p>
          <a:p>
            <a:r>
              <a:rPr lang="en-US" dirty="0"/>
              <a:t>Hive supports storage on AWS S3, ADLS, and GCS through the Hadoop Distributed File System (HDFS). With Hive, non-programmers familiar with SQL can read, write, and manage petabytes of big data.</a:t>
            </a:r>
          </a:p>
          <a:p>
            <a:endParaRPr lang="en-US" dirty="0"/>
          </a:p>
        </p:txBody>
      </p:sp>
      <p:pic>
        <p:nvPicPr>
          <p:cNvPr id="4" name="Picture 3">
            <a:extLst>
              <a:ext uri="{FF2B5EF4-FFF2-40B4-BE49-F238E27FC236}">
                <a16:creationId xmlns:a16="http://schemas.microsoft.com/office/drawing/2014/main" id="{AA56AC00-EEFD-CD0D-3D54-F2985D86D4B9}"/>
              </a:ext>
            </a:extLst>
          </p:cNvPr>
          <p:cNvPicPr>
            <a:picLocks noChangeAspect="1"/>
          </p:cNvPicPr>
          <p:nvPr/>
        </p:nvPicPr>
        <p:blipFill>
          <a:blip r:embed="rId2"/>
          <a:stretch>
            <a:fillRect/>
          </a:stretch>
        </p:blipFill>
        <p:spPr>
          <a:xfrm>
            <a:off x="838200" y="365125"/>
            <a:ext cx="1534297" cy="1352585"/>
          </a:xfrm>
          <a:prstGeom prst="rect">
            <a:avLst/>
          </a:prstGeom>
        </p:spPr>
      </p:pic>
      <p:pic>
        <p:nvPicPr>
          <p:cNvPr id="5" name="Picture 4">
            <a:extLst>
              <a:ext uri="{FF2B5EF4-FFF2-40B4-BE49-F238E27FC236}">
                <a16:creationId xmlns:a16="http://schemas.microsoft.com/office/drawing/2014/main" id="{C618E969-171A-6A5D-AFD7-7694B833290C}"/>
              </a:ext>
            </a:extLst>
          </p:cNvPr>
          <p:cNvPicPr>
            <a:picLocks noChangeAspect="1"/>
          </p:cNvPicPr>
          <p:nvPr/>
        </p:nvPicPr>
        <p:blipFill>
          <a:blip r:embed="rId3"/>
          <a:stretch>
            <a:fillRect/>
          </a:stretch>
        </p:blipFill>
        <p:spPr>
          <a:xfrm>
            <a:off x="7945394" y="508017"/>
            <a:ext cx="3408405" cy="1066800"/>
          </a:xfrm>
          <a:prstGeom prst="rect">
            <a:avLst/>
          </a:prstGeom>
        </p:spPr>
      </p:pic>
    </p:spTree>
    <p:extLst>
      <p:ext uri="{BB962C8B-B14F-4D97-AF65-F5344CB8AC3E}">
        <p14:creationId xmlns:p14="http://schemas.microsoft.com/office/powerpoint/2010/main" val="515345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606D4-ED28-C233-D15E-CE13EA495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3DF2B0-1248-694B-1044-C463770307C1}"/>
              </a:ext>
            </a:extLst>
          </p:cNvPr>
          <p:cNvSpPr>
            <a:spLocks noGrp="1"/>
          </p:cNvSpPr>
          <p:nvPr>
            <p:ph type="title"/>
          </p:nvPr>
        </p:nvSpPr>
        <p:spPr>
          <a:xfrm>
            <a:off x="2680729" y="365125"/>
            <a:ext cx="5264665" cy="1325563"/>
          </a:xfrm>
        </p:spPr>
        <p:txBody>
          <a:bodyPr/>
          <a:lstStyle/>
          <a:p>
            <a:r>
              <a:rPr lang="en-US" dirty="0"/>
              <a:t>Hive Architecture</a:t>
            </a:r>
          </a:p>
        </p:txBody>
      </p:sp>
      <p:sp>
        <p:nvSpPr>
          <p:cNvPr id="3" name="Content Placeholder 2">
            <a:extLst>
              <a:ext uri="{FF2B5EF4-FFF2-40B4-BE49-F238E27FC236}">
                <a16:creationId xmlns:a16="http://schemas.microsoft.com/office/drawing/2014/main" id="{0DA5FA79-7071-BC46-6C73-8676400B8064}"/>
              </a:ext>
            </a:extLst>
          </p:cNvPr>
          <p:cNvSpPr>
            <a:spLocks noGrp="1"/>
          </p:cNvSpPr>
          <p:nvPr>
            <p:ph idx="1"/>
          </p:nvPr>
        </p:nvSpPr>
        <p:spPr/>
        <p:txBody>
          <a:bodyPr/>
          <a:lstStyle/>
          <a:p>
            <a:pPr marL="0" indent="0">
              <a:buNone/>
            </a:pPr>
            <a:endParaRPr lang="en-US" dirty="0"/>
          </a:p>
          <a:p>
            <a:pPr marL="0" indent="0">
              <a:buNone/>
            </a:pPr>
            <a:r>
              <a:rPr lang="en-US" dirty="0"/>
              <a:t>There are four main components of Apache Hive:</a:t>
            </a:r>
          </a:p>
          <a:p>
            <a:pPr marL="514350" indent="-514350">
              <a:buFont typeface="+mj-lt"/>
              <a:buAutoNum type="arabicPeriod"/>
            </a:pPr>
            <a:r>
              <a:rPr lang="en-US" dirty="0"/>
              <a:t>Driver – The component that receives queries </a:t>
            </a:r>
          </a:p>
          <a:p>
            <a:pPr marL="514350" indent="-514350">
              <a:buFont typeface="+mj-lt"/>
              <a:buAutoNum type="arabicPeriod"/>
            </a:pPr>
            <a:r>
              <a:rPr lang="en-US" dirty="0"/>
              <a:t>Compiler – The component that parses queries</a:t>
            </a:r>
          </a:p>
          <a:p>
            <a:pPr marL="514350" indent="-514350">
              <a:buFont typeface="+mj-lt"/>
              <a:buAutoNum type="arabicPeriod"/>
            </a:pPr>
            <a:r>
              <a:rPr lang="en-US" dirty="0" err="1"/>
              <a:t>Metastore</a:t>
            </a:r>
            <a:r>
              <a:rPr lang="en-US" dirty="0"/>
              <a:t>  – The component that stores all the structure information of the various tables and partitions</a:t>
            </a:r>
          </a:p>
          <a:p>
            <a:pPr marL="514350" indent="-514350">
              <a:buFont typeface="+mj-lt"/>
              <a:buAutoNum type="arabicPeriod"/>
            </a:pPr>
            <a:r>
              <a:rPr lang="en-US" dirty="0"/>
              <a:t>Execution Engine – The component that executes the execution plan created by the compiler</a:t>
            </a:r>
          </a:p>
          <a:p>
            <a:endParaRPr lang="en-US" dirty="0"/>
          </a:p>
        </p:txBody>
      </p:sp>
      <p:pic>
        <p:nvPicPr>
          <p:cNvPr id="4" name="Picture 3">
            <a:extLst>
              <a:ext uri="{FF2B5EF4-FFF2-40B4-BE49-F238E27FC236}">
                <a16:creationId xmlns:a16="http://schemas.microsoft.com/office/drawing/2014/main" id="{EFE11822-8F60-EF2C-52D6-F1CC5B88F490}"/>
              </a:ext>
            </a:extLst>
          </p:cNvPr>
          <p:cNvPicPr>
            <a:picLocks noChangeAspect="1"/>
          </p:cNvPicPr>
          <p:nvPr/>
        </p:nvPicPr>
        <p:blipFill>
          <a:blip r:embed="rId2"/>
          <a:stretch>
            <a:fillRect/>
          </a:stretch>
        </p:blipFill>
        <p:spPr>
          <a:xfrm>
            <a:off x="838200" y="365125"/>
            <a:ext cx="1534297" cy="1352585"/>
          </a:xfrm>
          <a:prstGeom prst="rect">
            <a:avLst/>
          </a:prstGeom>
        </p:spPr>
      </p:pic>
      <p:pic>
        <p:nvPicPr>
          <p:cNvPr id="5" name="Picture 4">
            <a:extLst>
              <a:ext uri="{FF2B5EF4-FFF2-40B4-BE49-F238E27FC236}">
                <a16:creationId xmlns:a16="http://schemas.microsoft.com/office/drawing/2014/main" id="{9657015C-A717-E6E2-2D5C-13F1DDA45D79}"/>
              </a:ext>
            </a:extLst>
          </p:cNvPr>
          <p:cNvPicPr>
            <a:picLocks noChangeAspect="1"/>
          </p:cNvPicPr>
          <p:nvPr/>
        </p:nvPicPr>
        <p:blipFill>
          <a:blip r:embed="rId3"/>
          <a:stretch>
            <a:fillRect/>
          </a:stretch>
        </p:blipFill>
        <p:spPr>
          <a:xfrm>
            <a:off x="7945394" y="508017"/>
            <a:ext cx="3408405" cy="1066800"/>
          </a:xfrm>
          <a:prstGeom prst="rect">
            <a:avLst/>
          </a:prstGeom>
        </p:spPr>
      </p:pic>
    </p:spTree>
    <p:extLst>
      <p:ext uri="{BB962C8B-B14F-4D97-AF65-F5344CB8AC3E}">
        <p14:creationId xmlns:p14="http://schemas.microsoft.com/office/powerpoint/2010/main" val="2387241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37A62-806D-79C3-8AB0-07E4605AD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EA0A9D-E79D-AEDB-E9BA-60137D8AD843}"/>
              </a:ext>
            </a:extLst>
          </p:cNvPr>
          <p:cNvSpPr>
            <a:spLocks noGrp="1"/>
          </p:cNvSpPr>
          <p:nvPr>
            <p:ph type="title"/>
          </p:nvPr>
        </p:nvSpPr>
        <p:spPr>
          <a:xfrm>
            <a:off x="2680729" y="365125"/>
            <a:ext cx="5264665" cy="1325563"/>
          </a:xfrm>
        </p:spPr>
        <p:txBody>
          <a:bodyPr/>
          <a:lstStyle/>
          <a:p>
            <a:r>
              <a:rPr lang="en-US" dirty="0"/>
              <a:t>Apache Iceberg</a:t>
            </a:r>
          </a:p>
        </p:txBody>
      </p:sp>
      <p:sp>
        <p:nvSpPr>
          <p:cNvPr id="3" name="Content Placeholder 2">
            <a:extLst>
              <a:ext uri="{FF2B5EF4-FFF2-40B4-BE49-F238E27FC236}">
                <a16:creationId xmlns:a16="http://schemas.microsoft.com/office/drawing/2014/main" id="{46BC8740-8725-A534-1A63-5E01FD1C99CD}"/>
              </a:ext>
            </a:extLst>
          </p:cNvPr>
          <p:cNvSpPr>
            <a:spLocks noGrp="1"/>
          </p:cNvSpPr>
          <p:nvPr>
            <p:ph idx="1"/>
          </p:nvPr>
        </p:nvSpPr>
        <p:spPr/>
        <p:txBody>
          <a:bodyPr/>
          <a:lstStyle/>
          <a:p>
            <a:endParaRPr lang="en-US" dirty="0"/>
          </a:p>
          <a:p>
            <a:r>
              <a:rPr lang="en-US" dirty="0"/>
              <a:t>Apache Iceberg is an open table format that was designed with modern cloud infrastructure in mind. </a:t>
            </a:r>
          </a:p>
          <a:p>
            <a:endParaRPr lang="en-US" dirty="0"/>
          </a:p>
          <a:p>
            <a:r>
              <a:rPr lang="en-US" dirty="0"/>
              <a:t>It was created at Netflix to overcome the limitations of Apache Hive and includes key features like efficient updates and deletes, snapshot isolation, and partitioning.</a:t>
            </a:r>
          </a:p>
          <a:p>
            <a:endParaRPr lang="en-US" dirty="0"/>
          </a:p>
        </p:txBody>
      </p:sp>
      <p:pic>
        <p:nvPicPr>
          <p:cNvPr id="4" name="Picture 3">
            <a:extLst>
              <a:ext uri="{FF2B5EF4-FFF2-40B4-BE49-F238E27FC236}">
                <a16:creationId xmlns:a16="http://schemas.microsoft.com/office/drawing/2014/main" id="{233CD237-C057-12F9-A120-D32C72B38868}"/>
              </a:ext>
            </a:extLst>
          </p:cNvPr>
          <p:cNvPicPr>
            <a:picLocks noChangeAspect="1"/>
          </p:cNvPicPr>
          <p:nvPr/>
        </p:nvPicPr>
        <p:blipFill>
          <a:blip r:embed="rId2"/>
          <a:stretch>
            <a:fillRect/>
          </a:stretch>
        </p:blipFill>
        <p:spPr>
          <a:xfrm>
            <a:off x="838200" y="365125"/>
            <a:ext cx="1534297" cy="1352585"/>
          </a:xfrm>
          <a:prstGeom prst="rect">
            <a:avLst/>
          </a:prstGeom>
        </p:spPr>
      </p:pic>
      <p:pic>
        <p:nvPicPr>
          <p:cNvPr id="5" name="Picture 4">
            <a:extLst>
              <a:ext uri="{FF2B5EF4-FFF2-40B4-BE49-F238E27FC236}">
                <a16:creationId xmlns:a16="http://schemas.microsoft.com/office/drawing/2014/main" id="{3F8BD46E-7C88-4011-47CC-5D36D482F6D8}"/>
              </a:ext>
            </a:extLst>
          </p:cNvPr>
          <p:cNvPicPr>
            <a:picLocks noChangeAspect="1"/>
          </p:cNvPicPr>
          <p:nvPr/>
        </p:nvPicPr>
        <p:blipFill>
          <a:blip r:embed="rId3"/>
          <a:stretch>
            <a:fillRect/>
          </a:stretch>
        </p:blipFill>
        <p:spPr>
          <a:xfrm>
            <a:off x="7945394" y="508017"/>
            <a:ext cx="3408405" cy="1066800"/>
          </a:xfrm>
          <a:prstGeom prst="rect">
            <a:avLst/>
          </a:prstGeom>
        </p:spPr>
      </p:pic>
    </p:spTree>
    <p:extLst>
      <p:ext uri="{BB962C8B-B14F-4D97-AF65-F5344CB8AC3E}">
        <p14:creationId xmlns:p14="http://schemas.microsoft.com/office/powerpoint/2010/main" val="2417101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9E401-3569-E882-F2E4-F8B06681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1AAF1-1F74-6B3A-1516-16BD6DA31690}"/>
              </a:ext>
            </a:extLst>
          </p:cNvPr>
          <p:cNvSpPr>
            <a:spLocks noGrp="1"/>
          </p:cNvSpPr>
          <p:nvPr>
            <p:ph type="title"/>
          </p:nvPr>
        </p:nvSpPr>
        <p:spPr>
          <a:xfrm>
            <a:off x="2680729" y="365125"/>
            <a:ext cx="5264665" cy="1325563"/>
          </a:xfrm>
        </p:spPr>
        <p:txBody>
          <a:bodyPr/>
          <a:lstStyle/>
          <a:p>
            <a:r>
              <a:rPr lang="en-US" dirty="0"/>
              <a:t>Iceberg Architecture</a:t>
            </a:r>
          </a:p>
        </p:txBody>
      </p:sp>
      <p:sp>
        <p:nvSpPr>
          <p:cNvPr id="3" name="Content Placeholder 2">
            <a:extLst>
              <a:ext uri="{FF2B5EF4-FFF2-40B4-BE49-F238E27FC236}">
                <a16:creationId xmlns:a16="http://schemas.microsoft.com/office/drawing/2014/main" id="{9664C3EC-0499-CA50-D288-5B2098BB4CF0}"/>
              </a:ext>
            </a:extLst>
          </p:cNvPr>
          <p:cNvSpPr>
            <a:spLocks noGrp="1"/>
          </p:cNvSpPr>
          <p:nvPr>
            <p:ph idx="1"/>
          </p:nvPr>
        </p:nvSpPr>
        <p:spPr/>
        <p:txBody>
          <a:bodyPr/>
          <a:lstStyle/>
          <a:p>
            <a:pPr marL="0" indent="0">
              <a:buNone/>
            </a:pPr>
            <a:r>
              <a:rPr lang="en-US" dirty="0"/>
              <a:t>Apache Iceberg has three layers:</a:t>
            </a:r>
          </a:p>
          <a:p>
            <a:pPr marL="514350" indent="-514350">
              <a:buFont typeface="+mj-lt"/>
              <a:buAutoNum type="arabicPeriod"/>
            </a:pPr>
            <a:r>
              <a:rPr lang="en-US" dirty="0"/>
              <a:t>The Iceberg catalog </a:t>
            </a:r>
          </a:p>
          <a:p>
            <a:pPr marL="514350" indent="-514350">
              <a:buFont typeface="+mj-lt"/>
              <a:buAutoNum type="arabicPeriod"/>
            </a:pPr>
            <a:r>
              <a:rPr lang="en-US" dirty="0"/>
              <a:t>The metadata layer</a:t>
            </a:r>
          </a:p>
          <a:p>
            <a:pPr marL="514350" indent="-514350">
              <a:buFont typeface="+mj-lt"/>
              <a:buAutoNum type="arabicPeriod"/>
            </a:pPr>
            <a:r>
              <a:rPr lang="en-US" dirty="0"/>
              <a:t>The data layer</a:t>
            </a:r>
          </a:p>
          <a:p>
            <a:endParaRPr lang="en-US" dirty="0"/>
          </a:p>
        </p:txBody>
      </p:sp>
      <p:pic>
        <p:nvPicPr>
          <p:cNvPr id="4" name="Picture 3">
            <a:extLst>
              <a:ext uri="{FF2B5EF4-FFF2-40B4-BE49-F238E27FC236}">
                <a16:creationId xmlns:a16="http://schemas.microsoft.com/office/drawing/2014/main" id="{D8546B88-DA5E-8523-9CEC-45D1EDE587F1}"/>
              </a:ext>
            </a:extLst>
          </p:cNvPr>
          <p:cNvPicPr>
            <a:picLocks noChangeAspect="1"/>
          </p:cNvPicPr>
          <p:nvPr/>
        </p:nvPicPr>
        <p:blipFill>
          <a:blip r:embed="rId2"/>
          <a:stretch>
            <a:fillRect/>
          </a:stretch>
        </p:blipFill>
        <p:spPr>
          <a:xfrm>
            <a:off x="838200" y="365125"/>
            <a:ext cx="1534297" cy="1352585"/>
          </a:xfrm>
          <a:prstGeom prst="rect">
            <a:avLst/>
          </a:prstGeom>
        </p:spPr>
      </p:pic>
      <p:pic>
        <p:nvPicPr>
          <p:cNvPr id="5" name="Picture 4">
            <a:extLst>
              <a:ext uri="{FF2B5EF4-FFF2-40B4-BE49-F238E27FC236}">
                <a16:creationId xmlns:a16="http://schemas.microsoft.com/office/drawing/2014/main" id="{FFB9C4D9-96A0-6916-62AE-F41C935E4004}"/>
              </a:ext>
            </a:extLst>
          </p:cNvPr>
          <p:cNvPicPr>
            <a:picLocks noChangeAspect="1"/>
          </p:cNvPicPr>
          <p:nvPr/>
        </p:nvPicPr>
        <p:blipFill>
          <a:blip r:embed="rId3"/>
          <a:stretch>
            <a:fillRect/>
          </a:stretch>
        </p:blipFill>
        <p:spPr>
          <a:xfrm>
            <a:off x="7945394" y="508017"/>
            <a:ext cx="3408405" cy="1066800"/>
          </a:xfrm>
          <a:prstGeom prst="rect">
            <a:avLst/>
          </a:prstGeom>
        </p:spPr>
      </p:pic>
      <p:pic>
        <p:nvPicPr>
          <p:cNvPr id="6" name="Picture 5">
            <a:extLst>
              <a:ext uri="{FF2B5EF4-FFF2-40B4-BE49-F238E27FC236}">
                <a16:creationId xmlns:a16="http://schemas.microsoft.com/office/drawing/2014/main" id="{C5F2662F-E302-EF39-DB67-DAD878CEC661}"/>
              </a:ext>
            </a:extLst>
          </p:cNvPr>
          <p:cNvPicPr>
            <a:picLocks noChangeAspect="1"/>
          </p:cNvPicPr>
          <p:nvPr/>
        </p:nvPicPr>
        <p:blipFill>
          <a:blip r:embed="rId4"/>
          <a:stretch>
            <a:fillRect/>
          </a:stretch>
        </p:blipFill>
        <p:spPr>
          <a:xfrm>
            <a:off x="6096000" y="1717709"/>
            <a:ext cx="5123828" cy="4571142"/>
          </a:xfrm>
          <a:prstGeom prst="rect">
            <a:avLst/>
          </a:prstGeom>
        </p:spPr>
      </p:pic>
    </p:spTree>
    <p:extLst>
      <p:ext uri="{BB962C8B-B14F-4D97-AF65-F5344CB8AC3E}">
        <p14:creationId xmlns:p14="http://schemas.microsoft.com/office/powerpoint/2010/main" val="699125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FAA15-59E7-91B8-A5A8-669588B3A4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EE7F9-5B4E-392C-C4EA-298F1A6FED64}"/>
              </a:ext>
            </a:extLst>
          </p:cNvPr>
          <p:cNvSpPr>
            <a:spLocks noGrp="1"/>
          </p:cNvSpPr>
          <p:nvPr>
            <p:ph type="title"/>
          </p:nvPr>
        </p:nvSpPr>
        <p:spPr>
          <a:xfrm>
            <a:off x="2680729" y="365125"/>
            <a:ext cx="5264665" cy="1325563"/>
          </a:xfrm>
        </p:spPr>
        <p:txBody>
          <a:bodyPr/>
          <a:lstStyle/>
          <a:p>
            <a:r>
              <a:rPr lang="en-US" b="1" dirty="0"/>
              <a:t>Data Management and Metadata</a:t>
            </a:r>
            <a:endParaRPr lang="en-US" dirty="0"/>
          </a:p>
        </p:txBody>
      </p:sp>
      <p:sp>
        <p:nvSpPr>
          <p:cNvPr id="3" name="Content Placeholder 2">
            <a:extLst>
              <a:ext uri="{FF2B5EF4-FFF2-40B4-BE49-F238E27FC236}">
                <a16:creationId xmlns:a16="http://schemas.microsoft.com/office/drawing/2014/main" id="{2DA531AA-12A1-4C61-DB61-3AFE1E011337}"/>
              </a:ext>
            </a:extLst>
          </p:cNvPr>
          <p:cNvSpPr>
            <a:spLocks noGrp="1"/>
          </p:cNvSpPr>
          <p:nvPr>
            <p:ph idx="1"/>
          </p:nvPr>
        </p:nvSpPr>
        <p:spPr/>
        <p:txBody>
          <a:bodyPr/>
          <a:lstStyle/>
          <a:p>
            <a:endParaRPr lang="en-US" b="1" dirty="0"/>
          </a:p>
          <a:p>
            <a:r>
              <a:rPr lang="en-US" b="1" dirty="0"/>
              <a:t>Hive Tables:</a:t>
            </a:r>
            <a:r>
              <a:rPr lang="en-US" dirty="0"/>
              <a:t> Rely on the Hive </a:t>
            </a:r>
            <a:r>
              <a:rPr lang="en-US" dirty="0" err="1"/>
              <a:t>Metastore</a:t>
            </a:r>
            <a:r>
              <a:rPr lang="en-US" dirty="0"/>
              <a:t> to track table schemas and file locations. Data files are managed by the user, and changes to the underlying files (adding, deleting) require explicit updates in the </a:t>
            </a:r>
            <a:r>
              <a:rPr lang="en-US" dirty="0" err="1"/>
              <a:t>Metastore</a:t>
            </a:r>
            <a:r>
              <a:rPr lang="en-US" dirty="0"/>
              <a:t> or can lead to inconsistencies.</a:t>
            </a:r>
          </a:p>
          <a:p>
            <a:endParaRPr lang="en-US" b="1" dirty="0"/>
          </a:p>
          <a:p>
            <a:r>
              <a:rPr lang="en-US" b="1" dirty="0"/>
              <a:t>Iceberg Tables:</a:t>
            </a:r>
            <a:r>
              <a:rPr lang="en-US" dirty="0"/>
              <a:t> Fully manage their data and metadata. They use a separate metadata layer to track all data files, schema evolution, and historical versions. This provides features like time travel and snapshot isolation.</a:t>
            </a:r>
          </a:p>
        </p:txBody>
      </p:sp>
      <p:pic>
        <p:nvPicPr>
          <p:cNvPr id="4" name="Picture 3">
            <a:extLst>
              <a:ext uri="{FF2B5EF4-FFF2-40B4-BE49-F238E27FC236}">
                <a16:creationId xmlns:a16="http://schemas.microsoft.com/office/drawing/2014/main" id="{5FADD2E0-7AD0-859E-1A77-D7187B339FCA}"/>
              </a:ext>
            </a:extLst>
          </p:cNvPr>
          <p:cNvPicPr>
            <a:picLocks noChangeAspect="1"/>
          </p:cNvPicPr>
          <p:nvPr/>
        </p:nvPicPr>
        <p:blipFill>
          <a:blip r:embed="rId2"/>
          <a:stretch>
            <a:fillRect/>
          </a:stretch>
        </p:blipFill>
        <p:spPr>
          <a:xfrm>
            <a:off x="838200" y="365125"/>
            <a:ext cx="1534297" cy="1352585"/>
          </a:xfrm>
          <a:prstGeom prst="rect">
            <a:avLst/>
          </a:prstGeom>
        </p:spPr>
      </p:pic>
      <p:pic>
        <p:nvPicPr>
          <p:cNvPr id="5" name="Picture 4">
            <a:extLst>
              <a:ext uri="{FF2B5EF4-FFF2-40B4-BE49-F238E27FC236}">
                <a16:creationId xmlns:a16="http://schemas.microsoft.com/office/drawing/2014/main" id="{6717202E-18FA-5A83-2883-460098A9F684}"/>
              </a:ext>
            </a:extLst>
          </p:cNvPr>
          <p:cNvPicPr>
            <a:picLocks noChangeAspect="1"/>
          </p:cNvPicPr>
          <p:nvPr/>
        </p:nvPicPr>
        <p:blipFill>
          <a:blip r:embed="rId3"/>
          <a:stretch>
            <a:fillRect/>
          </a:stretch>
        </p:blipFill>
        <p:spPr>
          <a:xfrm>
            <a:off x="7945394" y="508017"/>
            <a:ext cx="3408405" cy="1066800"/>
          </a:xfrm>
          <a:prstGeom prst="rect">
            <a:avLst/>
          </a:prstGeom>
        </p:spPr>
      </p:pic>
    </p:spTree>
    <p:extLst>
      <p:ext uri="{BB962C8B-B14F-4D97-AF65-F5344CB8AC3E}">
        <p14:creationId xmlns:p14="http://schemas.microsoft.com/office/powerpoint/2010/main" val="2789268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CE06D-993B-16CD-6175-883656DDC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7D0AB0-F978-E36F-D473-954C208AEEAA}"/>
              </a:ext>
            </a:extLst>
          </p:cNvPr>
          <p:cNvSpPr>
            <a:spLocks noGrp="1"/>
          </p:cNvSpPr>
          <p:nvPr>
            <p:ph type="title"/>
          </p:nvPr>
        </p:nvSpPr>
        <p:spPr>
          <a:xfrm>
            <a:off x="2680729" y="365125"/>
            <a:ext cx="5264665" cy="1325563"/>
          </a:xfrm>
        </p:spPr>
        <p:txBody>
          <a:bodyPr/>
          <a:lstStyle/>
          <a:p>
            <a:r>
              <a:rPr lang="en-US" b="1" dirty="0"/>
              <a:t>Concurrency and Transactions</a:t>
            </a:r>
            <a:endParaRPr lang="en-US" dirty="0"/>
          </a:p>
        </p:txBody>
      </p:sp>
      <p:sp>
        <p:nvSpPr>
          <p:cNvPr id="3" name="Content Placeholder 2">
            <a:extLst>
              <a:ext uri="{FF2B5EF4-FFF2-40B4-BE49-F238E27FC236}">
                <a16:creationId xmlns:a16="http://schemas.microsoft.com/office/drawing/2014/main" id="{30722700-57EA-2011-E964-59B030B1F5B3}"/>
              </a:ext>
            </a:extLst>
          </p:cNvPr>
          <p:cNvSpPr>
            <a:spLocks noGrp="1"/>
          </p:cNvSpPr>
          <p:nvPr>
            <p:ph idx="1"/>
          </p:nvPr>
        </p:nvSpPr>
        <p:spPr/>
        <p:txBody>
          <a:bodyPr/>
          <a:lstStyle/>
          <a:p>
            <a:endParaRPr lang="en-US" b="1" dirty="0"/>
          </a:p>
          <a:p>
            <a:r>
              <a:rPr lang="en-US" b="1" dirty="0"/>
              <a:t>Hive Tables:</a:t>
            </a:r>
            <a:r>
              <a:rPr lang="en-US" dirty="0"/>
              <a:t> Not inherently designed for concurrent operations, especially DDL and DML, which can lead to data inconsistencies or failures during concurrent writes. Hive ACID tables offer transactional capabilities but are not universally supported.</a:t>
            </a:r>
          </a:p>
          <a:p>
            <a:endParaRPr lang="en-US" dirty="0"/>
          </a:p>
          <a:p>
            <a:r>
              <a:rPr lang="en-US" b="1" dirty="0"/>
              <a:t>Iceberg Tables:</a:t>
            </a:r>
            <a:r>
              <a:rPr lang="en-US" dirty="0"/>
              <a:t> Built with ACID transaction support, enabling reliable concurrent DML and DDL operations. This ensures data consistency and integrity even with multiple users or applications modifying the table simultaneously.</a:t>
            </a:r>
          </a:p>
        </p:txBody>
      </p:sp>
      <p:pic>
        <p:nvPicPr>
          <p:cNvPr id="4" name="Picture 3">
            <a:extLst>
              <a:ext uri="{FF2B5EF4-FFF2-40B4-BE49-F238E27FC236}">
                <a16:creationId xmlns:a16="http://schemas.microsoft.com/office/drawing/2014/main" id="{6A608D8B-009F-A3E4-DBAC-B45C81FC4A01}"/>
              </a:ext>
            </a:extLst>
          </p:cNvPr>
          <p:cNvPicPr>
            <a:picLocks noChangeAspect="1"/>
          </p:cNvPicPr>
          <p:nvPr/>
        </p:nvPicPr>
        <p:blipFill>
          <a:blip r:embed="rId2"/>
          <a:stretch>
            <a:fillRect/>
          </a:stretch>
        </p:blipFill>
        <p:spPr>
          <a:xfrm>
            <a:off x="838200" y="365125"/>
            <a:ext cx="1534297" cy="1352585"/>
          </a:xfrm>
          <a:prstGeom prst="rect">
            <a:avLst/>
          </a:prstGeom>
        </p:spPr>
      </p:pic>
      <p:pic>
        <p:nvPicPr>
          <p:cNvPr id="5" name="Picture 4">
            <a:extLst>
              <a:ext uri="{FF2B5EF4-FFF2-40B4-BE49-F238E27FC236}">
                <a16:creationId xmlns:a16="http://schemas.microsoft.com/office/drawing/2014/main" id="{C803E685-7BBC-5A70-93D5-1F1E92897990}"/>
              </a:ext>
            </a:extLst>
          </p:cNvPr>
          <p:cNvPicPr>
            <a:picLocks noChangeAspect="1"/>
          </p:cNvPicPr>
          <p:nvPr/>
        </p:nvPicPr>
        <p:blipFill>
          <a:blip r:embed="rId3"/>
          <a:stretch>
            <a:fillRect/>
          </a:stretch>
        </p:blipFill>
        <p:spPr>
          <a:xfrm>
            <a:off x="7945394" y="508017"/>
            <a:ext cx="3408405" cy="1066800"/>
          </a:xfrm>
          <a:prstGeom prst="rect">
            <a:avLst/>
          </a:prstGeom>
        </p:spPr>
      </p:pic>
    </p:spTree>
    <p:extLst>
      <p:ext uri="{BB962C8B-B14F-4D97-AF65-F5344CB8AC3E}">
        <p14:creationId xmlns:p14="http://schemas.microsoft.com/office/powerpoint/2010/main" val="936423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6EF73-7373-9B3E-CA32-C950268A24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1EDEB-892A-F6D8-FBA7-689E761D0206}"/>
              </a:ext>
            </a:extLst>
          </p:cNvPr>
          <p:cNvSpPr>
            <a:spLocks noGrp="1"/>
          </p:cNvSpPr>
          <p:nvPr>
            <p:ph type="title"/>
          </p:nvPr>
        </p:nvSpPr>
        <p:spPr>
          <a:xfrm>
            <a:off x="2680729" y="365125"/>
            <a:ext cx="5264665" cy="1325563"/>
          </a:xfrm>
        </p:spPr>
        <p:txBody>
          <a:bodyPr/>
          <a:lstStyle/>
          <a:p>
            <a:r>
              <a:rPr lang="en-US" b="1" dirty="0"/>
              <a:t>Schema Evolution</a:t>
            </a:r>
            <a:endParaRPr lang="en-US" dirty="0"/>
          </a:p>
        </p:txBody>
      </p:sp>
      <p:sp>
        <p:nvSpPr>
          <p:cNvPr id="3" name="Content Placeholder 2">
            <a:extLst>
              <a:ext uri="{FF2B5EF4-FFF2-40B4-BE49-F238E27FC236}">
                <a16:creationId xmlns:a16="http://schemas.microsoft.com/office/drawing/2014/main" id="{EFE5C10A-970C-F6E9-19C0-A886A0B05464}"/>
              </a:ext>
            </a:extLst>
          </p:cNvPr>
          <p:cNvSpPr>
            <a:spLocks noGrp="1"/>
          </p:cNvSpPr>
          <p:nvPr>
            <p:ph idx="1"/>
          </p:nvPr>
        </p:nvSpPr>
        <p:spPr/>
        <p:txBody>
          <a:bodyPr/>
          <a:lstStyle/>
          <a:p>
            <a:endParaRPr lang="en-US" b="1" dirty="0"/>
          </a:p>
          <a:p>
            <a:r>
              <a:rPr lang="en-US" b="1" dirty="0"/>
              <a:t>Hive Tables:</a:t>
            </a:r>
            <a:r>
              <a:rPr lang="en-US" dirty="0"/>
              <a:t> Schema changes often require rewriting entire datasets, which can be costly and time-consuming for large tables.</a:t>
            </a:r>
          </a:p>
          <a:p>
            <a:endParaRPr lang="en-US" dirty="0"/>
          </a:p>
          <a:p>
            <a:r>
              <a:rPr lang="en-US" b="1" dirty="0"/>
              <a:t>Iceberg Tables:</a:t>
            </a:r>
            <a:r>
              <a:rPr lang="en-US" dirty="0"/>
              <a:t> Support robust schema evolution (adding, dropping, reordering columns) without requiring data rewrites, making schema updates more efficient.</a:t>
            </a:r>
          </a:p>
        </p:txBody>
      </p:sp>
      <p:pic>
        <p:nvPicPr>
          <p:cNvPr id="4" name="Picture 3">
            <a:extLst>
              <a:ext uri="{FF2B5EF4-FFF2-40B4-BE49-F238E27FC236}">
                <a16:creationId xmlns:a16="http://schemas.microsoft.com/office/drawing/2014/main" id="{6DB25B96-863D-D2BE-800F-81FEAC3E8EC6}"/>
              </a:ext>
            </a:extLst>
          </p:cNvPr>
          <p:cNvPicPr>
            <a:picLocks noChangeAspect="1"/>
          </p:cNvPicPr>
          <p:nvPr/>
        </p:nvPicPr>
        <p:blipFill>
          <a:blip r:embed="rId2"/>
          <a:stretch>
            <a:fillRect/>
          </a:stretch>
        </p:blipFill>
        <p:spPr>
          <a:xfrm>
            <a:off x="838200" y="365125"/>
            <a:ext cx="1534297" cy="1352585"/>
          </a:xfrm>
          <a:prstGeom prst="rect">
            <a:avLst/>
          </a:prstGeom>
        </p:spPr>
      </p:pic>
      <p:pic>
        <p:nvPicPr>
          <p:cNvPr id="5" name="Picture 4">
            <a:extLst>
              <a:ext uri="{FF2B5EF4-FFF2-40B4-BE49-F238E27FC236}">
                <a16:creationId xmlns:a16="http://schemas.microsoft.com/office/drawing/2014/main" id="{35BCC4AE-D109-5ED8-83F8-2955F25B187C}"/>
              </a:ext>
            </a:extLst>
          </p:cNvPr>
          <p:cNvPicPr>
            <a:picLocks noChangeAspect="1"/>
          </p:cNvPicPr>
          <p:nvPr/>
        </p:nvPicPr>
        <p:blipFill>
          <a:blip r:embed="rId3"/>
          <a:stretch>
            <a:fillRect/>
          </a:stretch>
        </p:blipFill>
        <p:spPr>
          <a:xfrm>
            <a:off x="7945394" y="508017"/>
            <a:ext cx="3408405" cy="1066800"/>
          </a:xfrm>
          <a:prstGeom prst="rect">
            <a:avLst/>
          </a:prstGeom>
        </p:spPr>
      </p:pic>
    </p:spTree>
    <p:extLst>
      <p:ext uri="{BB962C8B-B14F-4D97-AF65-F5344CB8AC3E}">
        <p14:creationId xmlns:p14="http://schemas.microsoft.com/office/powerpoint/2010/main" val="459905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4E033-CF49-AE76-6835-22B29A0D03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54D8C-EF0C-03D0-EBD0-547732842888}"/>
              </a:ext>
            </a:extLst>
          </p:cNvPr>
          <p:cNvSpPr>
            <a:spLocks noGrp="1"/>
          </p:cNvSpPr>
          <p:nvPr>
            <p:ph type="title"/>
          </p:nvPr>
        </p:nvSpPr>
        <p:spPr>
          <a:xfrm>
            <a:off x="2680729" y="365125"/>
            <a:ext cx="5264665" cy="1325563"/>
          </a:xfrm>
        </p:spPr>
        <p:txBody>
          <a:bodyPr/>
          <a:lstStyle/>
          <a:p>
            <a:r>
              <a:rPr lang="en-US" b="1" dirty="0"/>
              <a:t>Partitioning</a:t>
            </a:r>
            <a:endParaRPr lang="en-US" dirty="0"/>
          </a:p>
        </p:txBody>
      </p:sp>
      <p:sp>
        <p:nvSpPr>
          <p:cNvPr id="3" name="Content Placeholder 2">
            <a:extLst>
              <a:ext uri="{FF2B5EF4-FFF2-40B4-BE49-F238E27FC236}">
                <a16:creationId xmlns:a16="http://schemas.microsoft.com/office/drawing/2014/main" id="{54711CDE-C177-F946-31AA-025C56BB1D35}"/>
              </a:ext>
            </a:extLst>
          </p:cNvPr>
          <p:cNvSpPr>
            <a:spLocks noGrp="1"/>
          </p:cNvSpPr>
          <p:nvPr>
            <p:ph idx="1"/>
          </p:nvPr>
        </p:nvSpPr>
        <p:spPr/>
        <p:txBody>
          <a:bodyPr/>
          <a:lstStyle/>
          <a:p>
            <a:endParaRPr lang="en-US" b="1" dirty="0"/>
          </a:p>
          <a:p>
            <a:r>
              <a:rPr lang="en-US" b="1" dirty="0"/>
              <a:t>Hive Tables:</a:t>
            </a:r>
            <a:r>
              <a:rPr lang="en-US" dirty="0"/>
              <a:t> Use explicit, folder-based partitioning, where partitions are physical directories in the file system. Adding or changing partitions can be cumbersome.</a:t>
            </a:r>
          </a:p>
          <a:p>
            <a:endParaRPr lang="en-US" dirty="0"/>
          </a:p>
          <a:p>
            <a:r>
              <a:rPr lang="en-US" b="1" dirty="0"/>
              <a:t>Iceberg Tables:</a:t>
            </a:r>
            <a:r>
              <a:rPr lang="en-US" dirty="0"/>
              <a:t> Employ metadata-driven hidden partitioning, which allows for more flexible and efficient partitioning schemes without exposing the physical layout to users.</a:t>
            </a:r>
          </a:p>
        </p:txBody>
      </p:sp>
      <p:pic>
        <p:nvPicPr>
          <p:cNvPr id="4" name="Picture 3">
            <a:extLst>
              <a:ext uri="{FF2B5EF4-FFF2-40B4-BE49-F238E27FC236}">
                <a16:creationId xmlns:a16="http://schemas.microsoft.com/office/drawing/2014/main" id="{A20BDC42-D7CB-E1B9-0ACA-6EBEB470FEAE}"/>
              </a:ext>
            </a:extLst>
          </p:cNvPr>
          <p:cNvPicPr>
            <a:picLocks noChangeAspect="1"/>
          </p:cNvPicPr>
          <p:nvPr/>
        </p:nvPicPr>
        <p:blipFill>
          <a:blip r:embed="rId2"/>
          <a:stretch>
            <a:fillRect/>
          </a:stretch>
        </p:blipFill>
        <p:spPr>
          <a:xfrm>
            <a:off x="838200" y="365125"/>
            <a:ext cx="1534297" cy="1352585"/>
          </a:xfrm>
          <a:prstGeom prst="rect">
            <a:avLst/>
          </a:prstGeom>
        </p:spPr>
      </p:pic>
      <p:pic>
        <p:nvPicPr>
          <p:cNvPr id="5" name="Picture 4">
            <a:extLst>
              <a:ext uri="{FF2B5EF4-FFF2-40B4-BE49-F238E27FC236}">
                <a16:creationId xmlns:a16="http://schemas.microsoft.com/office/drawing/2014/main" id="{8E8722BA-3970-FEA5-3657-EB2EBE9C7662}"/>
              </a:ext>
            </a:extLst>
          </p:cNvPr>
          <p:cNvPicPr>
            <a:picLocks noChangeAspect="1"/>
          </p:cNvPicPr>
          <p:nvPr/>
        </p:nvPicPr>
        <p:blipFill>
          <a:blip r:embed="rId3"/>
          <a:stretch>
            <a:fillRect/>
          </a:stretch>
        </p:blipFill>
        <p:spPr>
          <a:xfrm>
            <a:off x="7945394" y="508017"/>
            <a:ext cx="3408405" cy="1066800"/>
          </a:xfrm>
          <a:prstGeom prst="rect">
            <a:avLst/>
          </a:prstGeom>
        </p:spPr>
      </p:pic>
    </p:spTree>
    <p:extLst>
      <p:ext uri="{BB962C8B-B14F-4D97-AF65-F5344CB8AC3E}">
        <p14:creationId xmlns:p14="http://schemas.microsoft.com/office/powerpoint/2010/main" val="2359195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84280-9A8B-5BDD-B27D-EE3E364CC6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C3803C-8182-7D24-8272-541124FBB6AB}"/>
              </a:ext>
            </a:extLst>
          </p:cNvPr>
          <p:cNvSpPr>
            <a:spLocks noGrp="1"/>
          </p:cNvSpPr>
          <p:nvPr>
            <p:ph type="title"/>
          </p:nvPr>
        </p:nvSpPr>
        <p:spPr>
          <a:xfrm>
            <a:off x="2680729" y="365125"/>
            <a:ext cx="5264665" cy="1325563"/>
          </a:xfrm>
        </p:spPr>
        <p:txBody>
          <a:bodyPr/>
          <a:lstStyle/>
          <a:p>
            <a:r>
              <a:rPr lang="en-US" b="1" dirty="0"/>
              <a:t>Performance</a:t>
            </a:r>
            <a:endParaRPr lang="en-US" dirty="0"/>
          </a:p>
        </p:txBody>
      </p:sp>
      <p:sp>
        <p:nvSpPr>
          <p:cNvPr id="3" name="Content Placeholder 2">
            <a:extLst>
              <a:ext uri="{FF2B5EF4-FFF2-40B4-BE49-F238E27FC236}">
                <a16:creationId xmlns:a16="http://schemas.microsoft.com/office/drawing/2014/main" id="{57DDC961-50CC-0203-27E0-69E3866A9FAC}"/>
              </a:ext>
            </a:extLst>
          </p:cNvPr>
          <p:cNvSpPr>
            <a:spLocks noGrp="1"/>
          </p:cNvSpPr>
          <p:nvPr>
            <p:ph idx="1"/>
          </p:nvPr>
        </p:nvSpPr>
        <p:spPr/>
        <p:txBody>
          <a:bodyPr/>
          <a:lstStyle/>
          <a:p>
            <a:endParaRPr lang="en-US" b="1" dirty="0"/>
          </a:p>
          <a:p>
            <a:r>
              <a:rPr lang="en-US" b="1" dirty="0"/>
              <a:t>Hive Tables:</a:t>
            </a:r>
            <a:r>
              <a:rPr lang="en-US" dirty="0"/>
              <a:t> Can suffer performance degradation with large numbers of partitions and files due to the need for file system listings and </a:t>
            </a:r>
            <a:r>
              <a:rPr lang="en-US" dirty="0" err="1"/>
              <a:t>Metastore</a:t>
            </a:r>
            <a:r>
              <a:rPr lang="en-US" dirty="0"/>
              <a:t> lookups.</a:t>
            </a:r>
          </a:p>
          <a:p>
            <a:endParaRPr lang="en-US" dirty="0"/>
          </a:p>
          <a:p>
            <a:r>
              <a:rPr lang="en-US" b="1" dirty="0"/>
              <a:t>Iceberg Tables:</a:t>
            </a:r>
            <a:r>
              <a:rPr lang="en-US" dirty="0"/>
              <a:t> Optimize query performance by avoiding full file system listings and leveraging metadata to efficiently locate relevant data files.</a:t>
            </a:r>
          </a:p>
        </p:txBody>
      </p:sp>
      <p:pic>
        <p:nvPicPr>
          <p:cNvPr id="4" name="Picture 3">
            <a:extLst>
              <a:ext uri="{FF2B5EF4-FFF2-40B4-BE49-F238E27FC236}">
                <a16:creationId xmlns:a16="http://schemas.microsoft.com/office/drawing/2014/main" id="{120657C6-33EA-70B7-1900-F48FB23629FE}"/>
              </a:ext>
            </a:extLst>
          </p:cNvPr>
          <p:cNvPicPr>
            <a:picLocks noChangeAspect="1"/>
          </p:cNvPicPr>
          <p:nvPr/>
        </p:nvPicPr>
        <p:blipFill>
          <a:blip r:embed="rId2"/>
          <a:stretch>
            <a:fillRect/>
          </a:stretch>
        </p:blipFill>
        <p:spPr>
          <a:xfrm>
            <a:off x="838200" y="365125"/>
            <a:ext cx="1534297" cy="1352585"/>
          </a:xfrm>
          <a:prstGeom prst="rect">
            <a:avLst/>
          </a:prstGeom>
        </p:spPr>
      </p:pic>
      <p:pic>
        <p:nvPicPr>
          <p:cNvPr id="5" name="Picture 4">
            <a:extLst>
              <a:ext uri="{FF2B5EF4-FFF2-40B4-BE49-F238E27FC236}">
                <a16:creationId xmlns:a16="http://schemas.microsoft.com/office/drawing/2014/main" id="{EAF42AF0-A7D9-E4DD-8CD9-5BEB602D6FE8}"/>
              </a:ext>
            </a:extLst>
          </p:cNvPr>
          <p:cNvPicPr>
            <a:picLocks noChangeAspect="1"/>
          </p:cNvPicPr>
          <p:nvPr/>
        </p:nvPicPr>
        <p:blipFill>
          <a:blip r:embed="rId3"/>
          <a:stretch>
            <a:fillRect/>
          </a:stretch>
        </p:blipFill>
        <p:spPr>
          <a:xfrm>
            <a:off x="7945394" y="508017"/>
            <a:ext cx="3408405" cy="1066800"/>
          </a:xfrm>
          <a:prstGeom prst="rect">
            <a:avLst/>
          </a:prstGeom>
        </p:spPr>
      </p:pic>
    </p:spTree>
    <p:extLst>
      <p:ext uri="{BB962C8B-B14F-4D97-AF65-F5344CB8AC3E}">
        <p14:creationId xmlns:p14="http://schemas.microsoft.com/office/powerpoint/2010/main" val="1609001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A7B5A-2E78-54DB-147D-CB89E97899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5E92B-EC2C-7FFE-1C4E-D148B028C18D}"/>
              </a:ext>
            </a:extLst>
          </p:cNvPr>
          <p:cNvSpPr>
            <a:spLocks noGrp="1"/>
          </p:cNvSpPr>
          <p:nvPr>
            <p:ph type="title"/>
          </p:nvPr>
        </p:nvSpPr>
        <p:spPr>
          <a:xfrm>
            <a:off x="2680729" y="365125"/>
            <a:ext cx="5264665" cy="1325563"/>
          </a:xfrm>
        </p:spPr>
        <p:txBody>
          <a:bodyPr/>
          <a:lstStyle/>
          <a:p>
            <a:r>
              <a:rPr lang="en-US" b="1" dirty="0"/>
              <a:t>DML Operations (Updates/Deletes)</a:t>
            </a:r>
            <a:endParaRPr lang="en-US" dirty="0"/>
          </a:p>
        </p:txBody>
      </p:sp>
      <p:sp>
        <p:nvSpPr>
          <p:cNvPr id="3" name="Content Placeholder 2">
            <a:extLst>
              <a:ext uri="{FF2B5EF4-FFF2-40B4-BE49-F238E27FC236}">
                <a16:creationId xmlns:a16="http://schemas.microsoft.com/office/drawing/2014/main" id="{79C758B4-743F-1D8F-9829-5BEAD2CD8047}"/>
              </a:ext>
            </a:extLst>
          </p:cNvPr>
          <p:cNvSpPr>
            <a:spLocks noGrp="1"/>
          </p:cNvSpPr>
          <p:nvPr>
            <p:ph idx="1"/>
          </p:nvPr>
        </p:nvSpPr>
        <p:spPr/>
        <p:txBody>
          <a:bodyPr/>
          <a:lstStyle/>
          <a:p>
            <a:endParaRPr lang="en-US" b="1" dirty="0"/>
          </a:p>
          <a:p>
            <a:r>
              <a:rPr lang="en-US" b="1" dirty="0"/>
              <a:t>Hive Tables:</a:t>
            </a:r>
            <a:r>
              <a:rPr lang="en-US" dirty="0"/>
              <a:t> Updates and deletes often involve rewriting entire files or partitions, which can be inefficient.</a:t>
            </a:r>
          </a:p>
          <a:p>
            <a:endParaRPr lang="en-US" dirty="0"/>
          </a:p>
          <a:p>
            <a:r>
              <a:rPr lang="en-US" b="1" dirty="0"/>
              <a:t>Iceberg Tables:</a:t>
            </a:r>
            <a:r>
              <a:rPr lang="en-US" dirty="0"/>
              <a:t> Provide more efficient DML operations through features like copy-on-write and merge-on-read, allowing for granular updates and deletes without extensive data rewrites.</a:t>
            </a:r>
          </a:p>
        </p:txBody>
      </p:sp>
      <p:pic>
        <p:nvPicPr>
          <p:cNvPr id="4" name="Picture 3">
            <a:extLst>
              <a:ext uri="{FF2B5EF4-FFF2-40B4-BE49-F238E27FC236}">
                <a16:creationId xmlns:a16="http://schemas.microsoft.com/office/drawing/2014/main" id="{065B8B5A-0225-213E-4FA7-A7D4123E86FA}"/>
              </a:ext>
            </a:extLst>
          </p:cNvPr>
          <p:cNvPicPr>
            <a:picLocks noChangeAspect="1"/>
          </p:cNvPicPr>
          <p:nvPr/>
        </p:nvPicPr>
        <p:blipFill>
          <a:blip r:embed="rId2"/>
          <a:stretch>
            <a:fillRect/>
          </a:stretch>
        </p:blipFill>
        <p:spPr>
          <a:xfrm>
            <a:off x="838200" y="365125"/>
            <a:ext cx="1534297" cy="1352585"/>
          </a:xfrm>
          <a:prstGeom prst="rect">
            <a:avLst/>
          </a:prstGeom>
        </p:spPr>
      </p:pic>
      <p:pic>
        <p:nvPicPr>
          <p:cNvPr id="5" name="Picture 4">
            <a:extLst>
              <a:ext uri="{FF2B5EF4-FFF2-40B4-BE49-F238E27FC236}">
                <a16:creationId xmlns:a16="http://schemas.microsoft.com/office/drawing/2014/main" id="{38EA6E0B-126B-C5C9-B914-EE6E5ADBAD3B}"/>
              </a:ext>
            </a:extLst>
          </p:cNvPr>
          <p:cNvPicPr>
            <a:picLocks noChangeAspect="1"/>
          </p:cNvPicPr>
          <p:nvPr/>
        </p:nvPicPr>
        <p:blipFill>
          <a:blip r:embed="rId3"/>
          <a:stretch>
            <a:fillRect/>
          </a:stretch>
        </p:blipFill>
        <p:spPr>
          <a:xfrm>
            <a:off x="7945394" y="508017"/>
            <a:ext cx="3408405" cy="1066800"/>
          </a:xfrm>
          <a:prstGeom prst="rect">
            <a:avLst/>
          </a:prstGeom>
        </p:spPr>
      </p:pic>
    </p:spTree>
    <p:extLst>
      <p:ext uri="{BB962C8B-B14F-4D97-AF65-F5344CB8AC3E}">
        <p14:creationId xmlns:p14="http://schemas.microsoft.com/office/powerpoint/2010/main" val="2071418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4340A-147E-B7A9-6490-DE656CDB9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AECB7-3AD5-EC8C-22B0-7D785D8C405A}"/>
              </a:ext>
            </a:extLst>
          </p:cNvPr>
          <p:cNvSpPr>
            <a:spLocks noGrp="1"/>
          </p:cNvSpPr>
          <p:nvPr>
            <p:ph type="title"/>
          </p:nvPr>
        </p:nvSpPr>
        <p:spPr>
          <a:xfrm>
            <a:off x="2680729" y="365125"/>
            <a:ext cx="5264665" cy="1325563"/>
          </a:xfrm>
        </p:spPr>
        <p:txBody>
          <a:bodyPr/>
          <a:lstStyle/>
          <a:p>
            <a:r>
              <a:rPr lang="en-US" b="1" dirty="0"/>
              <a:t>Differences in nutshell</a:t>
            </a:r>
            <a:endParaRPr lang="en-US" dirty="0"/>
          </a:p>
        </p:txBody>
      </p:sp>
      <p:graphicFrame>
        <p:nvGraphicFramePr>
          <p:cNvPr id="8" name="Content Placeholder 7">
            <a:extLst>
              <a:ext uri="{FF2B5EF4-FFF2-40B4-BE49-F238E27FC236}">
                <a16:creationId xmlns:a16="http://schemas.microsoft.com/office/drawing/2014/main" id="{E3AB286C-72DF-96D5-02EA-C3AA012E9A0D}"/>
              </a:ext>
            </a:extLst>
          </p:cNvPr>
          <p:cNvGraphicFramePr>
            <a:graphicFrameLocks noGrp="1"/>
          </p:cNvGraphicFramePr>
          <p:nvPr>
            <p:ph idx="1"/>
            <p:extLst>
              <p:ext uri="{D42A27DB-BD31-4B8C-83A1-F6EECF244321}">
                <p14:modId xmlns:p14="http://schemas.microsoft.com/office/powerpoint/2010/main" val="541719582"/>
              </p:ext>
            </p:extLst>
          </p:nvPr>
        </p:nvGraphicFramePr>
        <p:xfrm>
          <a:off x="1343025" y="2035334"/>
          <a:ext cx="9505950" cy="4297680"/>
        </p:xfrm>
        <a:graphic>
          <a:graphicData uri="http://schemas.openxmlformats.org/drawingml/2006/table">
            <a:tbl>
              <a:tblPr/>
              <a:tblGrid>
                <a:gridCol w="3168650">
                  <a:extLst>
                    <a:ext uri="{9D8B030D-6E8A-4147-A177-3AD203B41FA5}">
                      <a16:colId xmlns:a16="http://schemas.microsoft.com/office/drawing/2014/main" val="2285828939"/>
                    </a:ext>
                  </a:extLst>
                </a:gridCol>
                <a:gridCol w="3168650">
                  <a:extLst>
                    <a:ext uri="{9D8B030D-6E8A-4147-A177-3AD203B41FA5}">
                      <a16:colId xmlns:a16="http://schemas.microsoft.com/office/drawing/2014/main" val="999844797"/>
                    </a:ext>
                  </a:extLst>
                </a:gridCol>
                <a:gridCol w="3168650">
                  <a:extLst>
                    <a:ext uri="{9D8B030D-6E8A-4147-A177-3AD203B41FA5}">
                      <a16:colId xmlns:a16="http://schemas.microsoft.com/office/drawing/2014/main" val="3328529020"/>
                    </a:ext>
                  </a:extLst>
                </a:gridCol>
              </a:tblGrid>
              <a:tr h="0">
                <a:tc>
                  <a:txBody>
                    <a:bodyPr/>
                    <a:lstStyle/>
                    <a:p>
                      <a:pPr algn="l" fontAlgn="base">
                        <a:buNone/>
                      </a:pPr>
                      <a:endParaRPr lang="en-US" dirty="0">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1" dirty="0">
                          <a:effectLst/>
                        </a:rPr>
                        <a:t>HIVE Tables</a:t>
                      </a: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1" dirty="0">
                          <a:effectLst/>
                        </a:rPr>
                        <a:t>ICEBERG Tables</a:t>
                      </a: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584585056"/>
                  </a:ext>
                </a:extLst>
              </a:tr>
              <a:tr h="0">
                <a:tc>
                  <a:txBody>
                    <a:bodyPr/>
                    <a:lstStyle/>
                    <a:p>
                      <a:pPr algn="l" fontAlgn="base">
                        <a:buNone/>
                      </a:pPr>
                      <a:r>
                        <a:rPr lang="en-US" b="0" dirty="0">
                          <a:effectLst/>
                        </a:rPr>
                        <a:t>Open source</a:t>
                      </a:r>
                      <a:endParaRPr lang="en-US" dirty="0">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Yes</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Yes</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274811112"/>
                  </a:ext>
                </a:extLst>
              </a:tr>
              <a:tr h="0">
                <a:tc>
                  <a:txBody>
                    <a:bodyPr/>
                    <a:lstStyle/>
                    <a:p>
                      <a:pPr algn="l" fontAlgn="base">
                        <a:buNone/>
                      </a:pPr>
                      <a:r>
                        <a:rPr lang="en-US" b="0">
                          <a:effectLst/>
                        </a:rPr>
                        <a:t>Read object storage using SQL</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Yes</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Yes</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644014520"/>
                  </a:ext>
                </a:extLst>
              </a:tr>
              <a:tr h="0">
                <a:tc>
                  <a:txBody>
                    <a:bodyPr/>
                    <a:lstStyle/>
                    <a:p>
                      <a:pPr algn="l" fontAlgn="base">
                        <a:buNone/>
                      </a:pPr>
                      <a:r>
                        <a:rPr lang="en-US" b="0">
                          <a:effectLst/>
                        </a:rPr>
                        <a:t>File format</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Parquet, Orc, Avro</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Parquet, Orc, Avro</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4174811637"/>
                  </a:ext>
                </a:extLst>
              </a:tr>
              <a:tr h="0">
                <a:tc>
                  <a:txBody>
                    <a:bodyPr/>
                    <a:lstStyle/>
                    <a:p>
                      <a:pPr algn="l" fontAlgn="base">
                        <a:buNone/>
                      </a:pPr>
                      <a:r>
                        <a:rPr lang="en-US">
                          <a:effectLst/>
                        </a:rPr>
                        <a:t>Performant at scale</a:t>
                      </a: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a:effectLst/>
                        </a:rPr>
                        <a:t>Yes</a:t>
                      </a: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a:effectLst/>
                        </a:rPr>
                        <a:t>Yes</a:t>
                      </a: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345258429"/>
                  </a:ext>
                </a:extLst>
              </a:tr>
              <a:tr h="0">
                <a:tc>
                  <a:txBody>
                    <a:bodyPr/>
                    <a:lstStyle/>
                    <a:p>
                      <a:pPr algn="l" fontAlgn="base">
                        <a:buNone/>
                      </a:pPr>
                      <a:r>
                        <a:rPr lang="en-US" b="0">
                          <a:effectLst/>
                        </a:rPr>
                        <a:t>ACID transactions</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No</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Yes</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652500205"/>
                  </a:ext>
                </a:extLst>
              </a:tr>
              <a:tr h="0">
                <a:tc>
                  <a:txBody>
                    <a:bodyPr/>
                    <a:lstStyle/>
                    <a:p>
                      <a:pPr algn="l" fontAlgn="base">
                        <a:buNone/>
                      </a:pPr>
                      <a:r>
                        <a:rPr lang="en-US" b="0">
                          <a:effectLst/>
                        </a:rPr>
                        <a:t>Table versioning</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No</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Yes</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065636780"/>
                  </a:ext>
                </a:extLst>
              </a:tr>
              <a:tr h="0">
                <a:tc>
                  <a:txBody>
                    <a:bodyPr/>
                    <a:lstStyle/>
                    <a:p>
                      <a:pPr algn="l" fontAlgn="base">
                        <a:buNone/>
                      </a:pPr>
                      <a:r>
                        <a:rPr lang="en-US" b="0">
                          <a:effectLst/>
                        </a:rPr>
                        <a:t>Time travel</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No</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Yes</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071969317"/>
                  </a:ext>
                </a:extLst>
              </a:tr>
              <a:tr h="0">
                <a:tc>
                  <a:txBody>
                    <a:bodyPr/>
                    <a:lstStyle/>
                    <a:p>
                      <a:pPr algn="l" fontAlgn="base">
                        <a:buNone/>
                      </a:pPr>
                      <a:r>
                        <a:rPr lang="en-US" b="0">
                          <a:effectLst/>
                        </a:rPr>
                        <a:t>Schema evolution</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No</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Yes</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4119139248"/>
                  </a:ext>
                </a:extLst>
              </a:tr>
              <a:tr h="0">
                <a:tc>
                  <a:txBody>
                    <a:bodyPr/>
                    <a:lstStyle/>
                    <a:p>
                      <a:pPr algn="l" fontAlgn="base">
                        <a:buNone/>
                      </a:pPr>
                      <a:r>
                        <a:rPr lang="en-US" b="0">
                          <a:effectLst/>
                        </a:rPr>
                        <a:t>Partition evolution</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No</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Yes</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517181233"/>
                  </a:ext>
                </a:extLst>
              </a:tr>
              <a:tr h="0">
                <a:tc>
                  <a:txBody>
                    <a:bodyPr/>
                    <a:lstStyle/>
                    <a:p>
                      <a:pPr algn="l" fontAlgn="base">
                        <a:buNone/>
                      </a:pPr>
                      <a:r>
                        <a:rPr lang="en-US" b="0">
                          <a:effectLst/>
                        </a:rPr>
                        <a:t>Partition pruning</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a:effectLst/>
                        </a:rPr>
                        <a:t>Yes</a:t>
                      </a:r>
                      <a:endParaRPr lang="en-US">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ctr" fontAlgn="base">
                        <a:buNone/>
                      </a:pPr>
                      <a:r>
                        <a:rPr lang="en-US" b="0" dirty="0">
                          <a:effectLst/>
                        </a:rPr>
                        <a:t>Yes</a:t>
                      </a:r>
                      <a:endParaRPr lang="en-US" dirty="0">
                        <a:effectLst/>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242232100"/>
                  </a:ext>
                </a:extLst>
              </a:tr>
            </a:tbl>
          </a:graphicData>
        </a:graphic>
      </p:graphicFrame>
      <p:pic>
        <p:nvPicPr>
          <p:cNvPr id="4" name="Picture 3">
            <a:extLst>
              <a:ext uri="{FF2B5EF4-FFF2-40B4-BE49-F238E27FC236}">
                <a16:creationId xmlns:a16="http://schemas.microsoft.com/office/drawing/2014/main" id="{0835AFD5-4C1D-ED66-B24E-D32AC81BA911}"/>
              </a:ext>
            </a:extLst>
          </p:cNvPr>
          <p:cNvPicPr>
            <a:picLocks noChangeAspect="1"/>
          </p:cNvPicPr>
          <p:nvPr/>
        </p:nvPicPr>
        <p:blipFill>
          <a:blip r:embed="rId2"/>
          <a:stretch>
            <a:fillRect/>
          </a:stretch>
        </p:blipFill>
        <p:spPr>
          <a:xfrm>
            <a:off x="838200" y="365125"/>
            <a:ext cx="1534297" cy="1352585"/>
          </a:xfrm>
          <a:prstGeom prst="rect">
            <a:avLst/>
          </a:prstGeom>
        </p:spPr>
      </p:pic>
      <p:pic>
        <p:nvPicPr>
          <p:cNvPr id="5" name="Picture 4">
            <a:extLst>
              <a:ext uri="{FF2B5EF4-FFF2-40B4-BE49-F238E27FC236}">
                <a16:creationId xmlns:a16="http://schemas.microsoft.com/office/drawing/2014/main" id="{6C3E6012-F9BA-8376-9634-0BD01152BE40}"/>
              </a:ext>
            </a:extLst>
          </p:cNvPr>
          <p:cNvPicPr>
            <a:picLocks noChangeAspect="1"/>
          </p:cNvPicPr>
          <p:nvPr/>
        </p:nvPicPr>
        <p:blipFill>
          <a:blip r:embed="rId3"/>
          <a:stretch>
            <a:fillRect/>
          </a:stretch>
        </p:blipFill>
        <p:spPr>
          <a:xfrm>
            <a:off x="7945394" y="508017"/>
            <a:ext cx="3408405" cy="1066800"/>
          </a:xfrm>
          <a:prstGeom prst="rect">
            <a:avLst/>
          </a:prstGeom>
        </p:spPr>
      </p:pic>
    </p:spTree>
    <p:extLst>
      <p:ext uri="{BB962C8B-B14F-4D97-AF65-F5344CB8AC3E}">
        <p14:creationId xmlns:p14="http://schemas.microsoft.com/office/powerpoint/2010/main" val="4247732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312DBE-BA0E-8AF1-679D-D0EAEBC41FF8}"/>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F769725-5973-A936-E5FB-0D23658F66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C89BA90-8643-879D-33C9-D07C65DAF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53312" cy="6858000"/>
          </a:xfrm>
          <a:custGeom>
            <a:avLst/>
            <a:gdLst>
              <a:gd name="connsiteX0" fmla="*/ 0 w 7433452"/>
              <a:gd name="connsiteY0" fmla="*/ 0 h 6858000"/>
              <a:gd name="connsiteX1" fmla="*/ 1592736 w 7433452"/>
              <a:gd name="connsiteY1" fmla="*/ 0 h 6858000"/>
              <a:gd name="connsiteX2" fmla="*/ 2171700 w 7433452"/>
              <a:gd name="connsiteY2" fmla="*/ 0 h 6858000"/>
              <a:gd name="connsiteX3" fmla="*/ 2762696 w 7433452"/>
              <a:gd name="connsiteY3" fmla="*/ 0 h 6858000"/>
              <a:gd name="connsiteX4" fmla="*/ 2829254 w 7433452"/>
              <a:gd name="connsiteY4" fmla="*/ 0 h 6858000"/>
              <a:gd name="connsiteX5" fmla="*/ 7415310 w 7433452"/>
              <a:gd name="connsiteY5" fmla="*/ 0 h 6858000"/>
              <a:gd name="connsiteX6" fmla="*/ 7405703 w 7433452"/>
              <a:gd name="connsiteY6" fmla="*/ 94814 h 6858000"/>
              <a:gd name="connsiteX7" fmla="*/ 7410754 w 7433452"/>
              <a:gd name="connsiteY7" fmla="*/ 421796 h 6858000"/>
              <a:gd name="connsiteX8" fmla="*/ 7414688 w 7433452"/>
              <a:gd name="connsiteY8" fmla="*/ 812192 h 6858000"/>
              <a:gd name="connsiteX9" fmla="*/ 7395017 w 7433452"/>
              <a:gd name="connsiteY9" fmla="*/ 1113642 h 6858000"/>
              <a:gd name="connsiteX10" fmla="*/ 7422810 w 7433452"/>
              <a:gd name="connsiteY10" fmla="*/ 1796708 h 6858000"/>
              <a:gd name="connsiteX11" fmla="*/ 7421161 w 7433452"/>
              <a:gd name="connsiteY11" fmla="*/ 2327333 h 6858000"/>
              <a:gd name="connsiteX12" fmla="*/ 7412023 w 7433452"/>
              <a:gd name="connsiteY12" fmla="*/ 2784280 h 6858000"/>
              <a:gd name="connsiteX13" fmla="*/ 7417480 w 7433452"/>
              <a:gd name="connsiteY13" fmla="*/ 2985458 h 6858000"/>
              <a:gd name="connsiteX14" fmla="*/ 7403774 w 7433452"/>
              <a:gd name="connsiteY14" fmla="*/ 3531096 h 6858000"/>
              <a:gd name="connsiteX15" fmla="*/ 7414307 w 7433452"/>
              <a:gd name="connsiteY15" fmla="*/ 4336830 h 6858000"/>
              <a:gd name="connsiteX16" fmla="*/ 7413419 w 7433452"/>
              <a:gd name="connsiteY16" fmla="*/ 5026893 h 6858000"/>
              <a:gd name="connsiteX17" fmla="*/ 7417734 w 7433452"/>
              <a:gd name="connsiteY17" fmla="*/ 5252632 h 6858000"/>
              <a:gd name="connsiteX18" fmla="*/ 7417734 w 7433452"/>
              <a:gd name="connsiteY18" fmla="*/ 5466282 h 6858000"/>
              <a:gd name="connsiteX19" fmla="*/ 7379659 w 7433452"/>
              <a:gd name="connsiteY19" fmla="*/ 6121225 h 6858000"/>
              <a:gd name="connsiteX20" fmla="*/ 7395115 w 7433452"/>
              <a:gd name="connsiteY20" fmla="*/ 6708907 h 6858000"/>
              <a:gd name="connsiteX21" fmla="*/ 7412408 w 7433452"/>
              <a:gd name="connsiteY21" fmla="*/ 6858000 h 6858000"/>
              <a:gd name="connsiteX22" fmla="*/ 2829254 w 7433452"/>
              <a:gd name="connsiteY22" fmla="*/ 6858000 h 6858000"/>
              <a:gd name="connsiteX23" fmla="*/ 2762696 w 7433452"/>
              <a:gd name="connsiteY23" fmla="*/ 6858000 h 6858000"/>
              <a:gd name="connsiteX24" fmla="*/ 2171700 w 7433452"/>
              <a:gd name="connsiteY24" fmla="*/ 6858000 h 6858000"/>
              <a:gd name="connsiteX25" fmla="*/ 1592736 w 7433452"/>
              <a:gd name="connsiteY25" fmla="*/ 6858000 h 6858000"/>
              <a:gd name="connsiteX26" fmla="*/ 0 w 7433452"/>
              <a:gd name="connsiteY2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433452" h="6858000">
                <a:moveTo>
                  <a:pt x="0" y="0"/>
                </a:moveTo>
                <a:lnTo>
                  <a:pt x="1592736" y="0"/>
                </a:lnTo>
                <a:lnTo>
                  <a:pt x="2171700" y="0"/>
                </a:lnTo>
                <a:lnTo>
                  <a:pt x="2762696" y="0"/>
                </a:lnTo>
                <a:lnTo>
                  <a:pt x="2829254" y="0"/>
                </a:lnTo>
                <a:lnTo>
                  <a:pt x="7415310" y="0"/>
                </a:lnTo>
                <a:lnTo>
                  <a:pt x="7405703" y="94814"/>
                </a:lnTo>
                <a:cubicBezTo>
                  <a:pt x="7398856" y="203629"/>
                  <a:pt x="7403520" y="312712"/>
                  <a:pt x="7410754" y="421796"/>
                </a:cubicBezTo>
                <a:cubicBezTo>
                  <a:pt x="7421580" y="551656"/>
                  <a:pt x="7422900" y="682144"/>
                  <a:pt x="7414688" y="812192"/>
                </a:cubicBezTo>
                <a:cubicBezTo>
                  <a:pt x="7406693" y="912591"/>
                  <a:pt x="7397682" y="1012988"/>
                  <a:pt x="7395017" y="1113642"/>
                </a:cubicBezTo>
                <a:cubicBezTo>
                  <a:pt x="7388670" y="1342689"/>
                  <a:pt x="7407708" y="1569316"/>
                  <a:pt x="7422810" y="1796708"/>
                </a:cubicBezTo>
                <a:cubicBezTo>
                  <a:pt x="7434487" y="1973710"/>
                  <a:pt x="7439944" y="2150457"/>
                  <a:pt x="7421161" y="2327333"/>
                </a:cubicBezTo>
                <a:cubicBezTo>
                  <a:pt x="7405170" y="2479266"/>
                  <a:pt x="7396793" y="2631453"/>
                  <a:pt x="7412023" y="2784280"/>
                </a:cubicBezTo>
                <a:cubicBezTo>
                  <a:pt x="7418749" y="2851085"/>
                  <a:pt x="7425984" y="2918653"/>
                  <a:pt x="7417480" y="2985458"/>
                </a:cubicBezTo>
                <a:cubicBezTo>
                  <a:pt x="7394508" y="3167039"/>
                  <a:pt x="7398063" y="3349132"/>
                  <a:pt x="7403774" y="3531096"/>
                </a:cubicBezTo>
                <a:cubicBezTo>
                  <a:pt x="7412277" y="3799715"/>
                  <a:pt x="7426364" y="4067954"/>
                  <a:pt x="7414307" y="4336830"/>
                </a:cubicBezTo>
                <a:cubicBezTo>
                  <a:pt x="7404027" y="4566639"/>
                  <a:pt x="7420653" y="4796831"/>
                  <a:pt x="7413419" y="5026893"/>
                </a:cubicBezTo>
                <a:cubicBezTo>
                  <a:pt x="7410982" y="5102162"/>
                  <a:pt x="7412429" y="5177504"/>
                  <a:pt x="7417734" y="5252632"/>
                </a:cubicBezTo>
                <a:cubicBezTo>
                  <a:pt x="7424271" y="5323700"/>
                  <a:pt x="7424271" y="5395213"/>
                  <a:pt x="7417734" y="5466282"/>
                </a:cubicBezTo>
                <a:cubicBezTo>
                  <a:pt x="7393239" y="5683875"/>
                  <a:pt x="7383214" y="5902486"/>
                  <a:pt x="7379659" y="6121225"/>
                </a:cubicBezTo>
                <a:cubicBezTo>
                  <a:pt x="7376423" y="6317442"/>
                  <a:pt x="7378041" y="6513586"/>
                  <a:pt x="7395115" y="6708907"/>
                </a:cubicBezTo>
                <a:lnTo>
                  <a:pt x="7412408" y="6858000"/>
                </a:lnTo>
                <a:lnTo>
                  <a:pt x="2829254" y="6858000"/>
                </a:lnTo>
                <a:lnTo>
                  <a:pt x="2762696" y="6858000"/>
                </a:lnTo>
                <a:lnTo>
                  <a:pt x="2171700" y="6858000"/>
                </a:lnTo>
                <a:lnTo>
                  <a:pt x="159273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itle 4">
            <a:extLst>
              <a:ext uri="{FF2B5EF4-FFF2-40B4-BE49-F238E27FC236}">
                <a16:creationId xmlns:a16="http://schemas.microsoft.com/office/drawing/2014/main" id="{387CA2D7-B0BA-D1A1-316B-25922F28FCA5}"/>
              </a:ext>
            </a:extLst>
          </p:cNvPr>
          <p:cNvSpPr>
            <a:spLocks noGrp="1"/>
          </p:cNvSpPr>
          <p:nvPr>
            <p:ph type="title"/>
          </p:nvPr>
        </p:nvSpPr>
        <p:spPr>
          <a:xfrm>
            <a:off x="838200" y="484632"/>
            <a:ext cx="6081713" cy="3566160"/>
          </a:xfrm>
        </p:spPr>
        <p:txBody>
          <a:bodyPr vert="horz" lIns="91440" tIns="45720" rIns="91440" bIns="45720" rtlCol="0" anchor="b">
            <a:normAutofit/>
          </a:bodyPr>
          <a:lstStyle/>
          <a:p>
            <a:r>
              <a:rPr lang="en-US" sz="6600" b="1" dirty="0">
                <a:solidFill>
                  <a:srgbClr val="FFFFFF"/>
                </a:solidFill>
              </a:rPr>
              <a:t>DEMO </a:t>
            </a:r>
            <a:br>
              <a:rPr lang="en-US" sz="6600" b="1" dirty="0">
                <a:solidFill>
                  <a:srgbClr val="FFFFFF"/>
                </a:solidFill>
              </a:rPr>
            </a:br>
            <a:r>
              <a:rPr lang="en-US" sz="6600" b="1" dirty="0">
                <a:solidFill>
                  <a:srgbClr val="FFFFFF"/>
                </a:solidFill>
              </a:rPr>
              <a:t>ICEBERG CAPABILITIES</a:t>
            </a:r>
          </a:p>
        </p:txBody>
      </p:sp>
      <p:pic>
        <p:nvPicPr>
          <p:cNvPr id="6" name="Picture 5">
            <a:extLst>
              <a:ext uri="{FF2B5EF4-FFF2-40B4-BE49-F238E27FC236}">
                <a16:creationId xmlns:a16="http://schemas.microsoft.com/office/drawing/2014/main" id="{ABEB0DB5-0828-0B91-2B1E-D9C1E5DF8F1D}"/>
              </a:ext>
            </a:extLst>
          </p:cNvPr>
          <p:cNvPicPr>
            <a:picLocks noChangeAspect="1"/>
          </p:cNvPicPr>
          <p:nvPr/>
        </p:nvPicPr>
        <p:blipFill>
          <a:blip r:embed="rId2"/>
          <a:stretch>
            <a:fillRect/>
          </a:stretch>
        </p:blipFill>
        <p:spPr>
          <a:xfrm>
            <a:off x="8291837" y="524960"/>
            <a:ext cx="3061963" cy="2904040"/>
          </a:xfrm>
          <a:prstGeom prst="rect">
            <a:avLst/>
          </a:prstGeom>
        </p:spPr>
      </p:pic>
      <p:sp>
        <p:nvSpPr>
          <p:cNvPr id="16" name="sketch line">
            <a:extLst>
              <a:ext uri="{FF2B5EF4-FFF2-40B4-BE49-F238E27FC236}">
                <a16:creationId xmlns:a16="http://schemas.microsoft.com/office/drawing/2014/main" id="{818643B5-B56B-C329-32C7-2482E16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5475" y="4252192"/>
            <a:ext cx="4056549" cy="18288"/>
          </a:xfrm>
          <a:custGeom>
            <a:avLst/>
            <a:gdLst>
              <a:gd name="connsiteX0" fmla="*/ 0 w 4056549"/>
              <a:gd name="connsiteY0" fmla="*/ 0 h 18288"/>
              <a:gd name="connsiteX1" fmla="*/ 676092 w 4056549"/>
              <a:gd name="connsiteY1" fmla="*/ 0 h 18288"/>
              <a:gd name="connsiteX2" fmla="*/ 1271052 w 4056549"/>
              <a:gd name="connsiteY2" fmla="*/ 0 h 18288"/>
              <a:gd name="connsiteX3" fmla="*/ 1947144 w 4056549"/>
              <a:gd name="connsiteY3" fmla="*/ 0 h 18288"/>
              <a:gd name="connsiteX4" fmla="*/ 2501539 w 4056549"/>
              <a:gd name="connsiteY4" fmla="*/ 0 h 18288"/>
              <a:gd name="connsiteX5" fmla="*/ 3137065 w 4056549"/>
              <a:gd name="connsiteY5" fmla="*/ 0 h 18288"/>
              <a:gd name="connsiteX6" fmla="*/ 4056549 w 4056549"/>
              <a:gd name="connsiteY6" fmla="*/ 0 h 18288"/>
              <a:gd name="connsiteX7" fmla="*/ 4056549 w 4056549"/>
              <a:gd name="connsiteY7" fmla="*/ 18288 h 18288"/>
              <a:gd name="connsiteX8" fmla="*/ 3380458 w 4056549"/>
              <a:gd name="connsiteY8" fmla="*/ 18288 h 18288"/>
              <a:gd name="connsiteX9" fmla="*/ 2663801 w 4056549"/>
              <a:gd name="connsiteY9" fmla="*/ 18288 h 18288"/>
              <a:gd name="connsiteX10" fmla="*/ 2068840 w 4056549"/>
              <a:gd name="connsiteY10" fmla="*/ 18288 h 18288"/>
              <a:gd name="connsiteX11" fmla="*/ 1311618 w 4056549"/>
              <a:gd name="connsiteY11" fmla="*/ 18288 h 18288"/>
              <a:gd name="connsiteX12" fmla="*/ 716657 w 4056549"/>
              <a:gd name="connsiteY12" fmla="*/ 18288 h 18288"/>
              <a:gd name="connsiteX13" fmla="*/ 0 w 4056549"/>
              <a:gd name="connsiteY13" fmla="*/ 18288 h 18288"/>
              <a:gd name="connsiteX14" fmla="*/ 0 w 4056549"/>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6549" h="18288" fill="none" extrusionOk="0">
                <a:moveTo>
                  <a:pt x="0" y="0"/>
                </a:moveTo>
                <a:cubicBezTo>
                  <a:pt x="324395" y="-12272"/>
                  <a:pt x="437185" y="20747"/>
                  <a:pt x="676092" y="0"/>
                </a:cubicBezTo>
                <a:cubicBezTo>
                  <a:pt x="914999" y="-20747"/>
                  <a:pt x="980886" y="20074"/>
                  <a:pt x="1271052" y="0"/>
                </a:cubicBezTo>
                <a:cubicBezTo>
                  <a:pt x="1561218" y="-20074"/>
                  <a:pt x="1609815" y="19965"/>
                  <a:pt x="1947144" y="0"/>
                </a:cubicBezTo>
                <a:cubicBezTo>
                  <a:pt x="2284473" y="-19965"/>
                  <a:pt x="2317816" y="-23682"/>
                  <a:pt x="2501539" y="0"/>
                </a:cubicBezTo>
                <a:cubicBezTo>
                  <a:pt x="2685262" y="23682"/>
                  <a:pt x="2879461" y="12712"/>
                  <a:pt x="3137065" y="0"/>
                </a:cubicBezTo>
                <a:cubicBezTo>
                  <a:pt x="3394669" y="-12712"/>
                  <a:pt x="3618306" y="-41742"/>
                  <a:pt x="4056549" y="0"/>
                </a:cubicBezTo>
                <a:cubicBezTo>
                  <a:pt x="4056201" y="6465"/>
                  <a:pt x="4056979" y="10922"/>
                  <a:pt x="4056549" y="18288"/>
                </a:cubicBezTo>
                <a:cubicBezTo>
                  <a:pt x="3807729" y="-7540"/>
                  <a:pt x="3536237" y="12619"/>
                  <a:pt x="3380458" y="18288"/>
                </a:cubicBezTo>
                <a:cubicBezTo>
                  <a:pt x="3224679" y="23957"/>
                  <a:pt x="2967497" y="23368"/>
                  <a:pt x="2663801" y="18288"/>
                </a:cubicBezTo>
                <a:cubicBezTo>
                  <a:pt x="2360105" y="13208"/>
                  <a:pt x="2359716" y="-8821"/>
                  <a:pt x="2068840" y="18288"/>
                </a:cubicBezTo>
                <a:cubicBezTo>
                  <a:pt x="1777964" y="45397"/>
                  <a:pt x="1641909" y="31681"/>
                  <a:pt x="1311618" y="18288"/>
                </a:cubicBezTo>
                <a:cubicBezTo>
                  <a:pt x="981327" y="4895"/>
                  <a:pt x="990410" y="11155"/>
                  <a:pt x="716657" y="18288"/>
                </a:cubicBezTo>
                <a:cubicBezTo>
                  <a:pt x="442904" y="25421"/>
                  <a:pt x="330722" y="13665"/>
                  <a:pt x="0" y="18288"/>
                </a:cubicBezTo>
                <a:cubicBezTo>
                  <a:pt x="75" y="12069"/>
                  <a:pt x="515" y="5650"/>
                  <a:pt x="0" y="0"/>
                </a:cubicBezTo>
                <a:close/>
              </a:path>
              <a:path w="4056549" h="18288" stroke="0" extrusionOk="0">
                <a:moveTo>
                  <a:pt x="0" y="0"/>
                </a:moveTo>
                <a:cubicBezTo>
                  <a:pt x="175099" y="13469"/>
                  <a:pt x="459673" y="14529"/>
                  <a:pt x="594961" y="0"/>
                </a:cubicBezTo>
                <a:cubicBezTo>
                  <a:pt x="730249" y="-14529"/>
                  <a:pt x="873178" y="22015"/>
                  <a:pt x="1149356" y="0"/>
                </a:cubicBezTo>
                <a:cubicBezTo>
                  <a:pt x="1425534" y="-22015"/>
                  <a:pt x="1498871" y="-21513"/>
                  <a:pt x="1744316" y="0"/>
                </a:cubicBezTo>
                <a:cubicBezTo>
                  <a:pt x="1989761" y="21513"/>
                  <a:pt x="2112991" y="-46"/>
                  <a:pt x="2420408" y="0"/>
                </a:cubicBezTo>
                <a:cubicBezTo>
                  <a:pt x="2727825" y="46"/>
                  <a:pt x="2880256" y="-10040"/>
                  <a:pt x="3137065" y="0"/>
                </a:cubicBezTo>
                <a:cubicBezTo>
                  <a:pt x="3393874" y="10040"/>
                  <a:pt x="3704325" y="-6685"/>
                  <a:pt x="4056549" y="0"/>
                </a:cubicBezTo>
                <a:cubicBezTo>
                  <a:pt x="4055732" y="6895"/>
                  <a:pt x="4055770" y="11206"/>
                  <a:pt x="4056549" y="18288"/>
                </a:cubicBezTo>
                <a:cubicBezTo>
                  <a:pt x="3812770" y="11959"/>
                  <a:pt x="3533996" y="-5717"/>
                  <a:pt x="3299327" y="18288"/>
                </a:cubicBezTo>
                <a:cubicBezTo>
                  <a:pt x="3064658" y="42293"/>
                  <a:pt x="2940381" y="24492"/>
                  <a:pt x="2744931" y="18288"/>
                </a:cubicBezTo>
                <a:cubicBezTo>
                  <a:pt x="2549481" y="12084"/>
                  <a:pt x="2252169" y="51841"/>
                  <a:pt x="1987709" y="18288"/>
                </a:cubicBezTo>
                <a:cubicBezTo>
                  <a:pt x="1723249" y="-15265"/>
                  <a:pt x="1438946" y="3423"/>
                  <a:pt x="1230487" y="18288"/>
                </a:cubicBezTo>
                <a:cubicBezTo>
                  <a:pt x="1022028" y="33153"/>
                  <a:pt x="795957" y="18596"/>
                  <a:pt x="676092" y="18288"/>
                </a:cubicBezTo>
                <a:cubicBezTo>
                  <a:pt x="556227" y="17980"/>
                  <a:pt x="334853" y="39451"/>
                  <a:pt x="0" y="18288"/>
                </a:cubicBezTo>
                <a:cubicBezTo>
                  <a:pt x="95" y="14343"/>
                  <a:pt x="742" y="6860"/>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2884057-129F-8A02-8E76-3C9A471110C6}"/>
              </a:ext>
            </a:extLst>
          </p:cNvPr>
          <p:cNvPicPr>
            <a:picLocks noChangeAspect="1"/>
          </p:cNvPicPr>
          <p:nvPr/>
        </p:nvPicPr>
        <p:blipFill>
          <a:blip r:embed="rId3"/>
          <a:stretch>
            <a:fillRect/>
          </a:stretch>
        </p:blipFill>
        <p:spPr>
          <a:xfrm>
            <a:off x="7856858" y="4270480"/>
            <a:ext cx="3931920" cy="933830"/>
          </a:xfrm>
          <a:prstGeom prst="rect">
            <a:avLst/>
          </a:prstGeom>
        </p:spPr>
      </p:pic>
    </p:spTree>
    <p:extLst>
      <p:ext uri="{BB962C8B-B14F-4D97-AF65-F5344CB8AC3E}">
        <p14:creationId xmlns:p14="http://schemas.microsoft.com/office/powerpoint/2010/main" val="1873167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1811EA-C440-2E13-2E00-D96335334B2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EB3ED06-7D94-FC95-CBBD-BD642623B8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0EA92B4-4A66-65B0-895F-3E9781A88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53312" cy="6858000"/>
          </a:xfrm>
          <a:custGeom>
            <a:avLst/>
            <a:gdLst>
              <a:gd name="connsiteX0" fmla="*/ 0 w 7433452"/>
              <a:gd name="connsiteY0" fmla="*/ 0 h 6858000"/>
              <a:gd name="connsiteX1" fmla="*/ 1592736 w 7433452"/>
              <a:gd name="connsiteY1" fmla="*/ 0 h 6858000"/>
              <a:gd name="connsiteX2" fmla="*/ 2171700 w 7433452"/>
              <a:gd name="connsiteY2" fmla="*/ 0 h 6858000"/>
              <a:gd name="connsiteX3" fmla="*/ 2762696 w 7433452"/>
              <a:gd name="connsiteY3" fmla="*/ 0 h 6858000"/>
              <a:gd name="connsiteX4" fmla="*/ 2829254 w 7433452"/>
              <a:gd name="connsiteY4" fmla="*/ 0 h 6858000"/>
              <a:gd name="connsiteX5" fmla="*/ 7415310 w 7433452"/>
              <a:gd name="connsiteY5" fmla="*/ 0 h 6858000"/>
              <a:gd name="connsiteX6" fmla="*/ 7405703 w 7433452"/>
              <a:gd name="connsiteY6" fmla="*/ 94814 h 6858000"/>
              <a:gd name="connsiteX7" fmla="*/ 7410754 w 7433452"/>
              <a:gd name="connsiteY7" fmla="*/ 421796 h 6858000"/>
              <a:gd name="connsiteX8" fmla="*/ 7414688 w 7433452"/>
              <a:gd name="connsiteY8" fmla="*/ 812192 h 6858000"/>
              <a:gd name="connsiteX9" fmla="*/ 7395017 w 7433452"/>
              <a:gd name="connsiteY9" fmla="*/ 1113642 h 6858000"/>
              <a:gd name="connsiteX10" fmla="*/ 7422810 w 7433452"/>
              <a:gd name="connsiteY10" fmla="*/ 1796708 h 6858000"/>
              <a:gd name="connsiteX11" fmla="*/ 7421161 w 7433452"/>
              <a:gd name="connsiteY11" fmla="*/ 2327333 h 6858000"/>
              <a:gd name="connsiteX12" fmla="*/ 7412023 w 7433452"/>
              <a:gd name="connsiteY12" fmla="*/ 2784280 h 6858000"/>
              <a:gd name="connsiteX13" fmla="*/ 7417480 w 7433452"/>
              <a:gd name="connsiteY13" fmla="*/ 2985458 h 6858000"/>
              <a:gd name="connsiteX14" fmla="*/ 7403774 w 7433452"/>
              <a:gd name="connsiteY14" fmla="*/ 3531096 h 6858000"/>
              <a:gd name="connsiteX15" fmla="*/ 7414307 w 7433452"/>
              <a:gd name="connsiteY15" fmla="*/ 4336830 h 6858000"/>
              <a:gd name="connsiteX16" fmla="*/ 7413419 w 7433452"/>
              <a:gd name="connsiteY16" fmla="*/ 5026893 h 6858000"/>
              <a:gd name="connsiteX17" fmla="*/ 7417734 w 7433452"/>
              <a:gd name="connsiteY17" fmla="*/ 5252632 h 6858000"/>
              <a:gd name="connsiteX18" fmla="*/ 7417734 w 7433452"/>
              <a:gd name="connsiteY18" fmla="*/ 5466282 h 6858000"/>
              <a:gd name="connsiteX19" fmla="*/ 7379659 w 7433452"/>
              <a:gd name="connsiteY19" fmla="*/ 6121225 h 6858000"/>
              <a:gd name="connsiteX20" fmla="*/ 7395115 w 7433452"/>
              <a:gd name="connsiteY20" fmla="*/ 6708907 h 6858000"/>
              <a:gd name="connsiteX21" fmla="*/ 7412408 w 7433452"/>
              <a:gd name="connsiteY21" fmla="*/ 6858000 h 6858000"/>
              <a:gd name="connsiteX22" fmla="*/ 2829254 w 7433452"/>
              <a:gd name="connsiteY22" fmla="*/ 6858000 h 6858000"/>
              <a:gd name="connsiteX23" fmla="*/ 2762696 w 7433452"/>
              <a:gd name="connsiteY23" fmla="*/ 6858000 h 6858000"/>
              <a:gd name="connsiteX24" fmla="*/ 2171700 w 7433452"/>
              <a:gd name="connsiteY24" fmla="*/ 6858000 h 6858000"/>
              <a:gd name="connsiteX25" fmla="*/ 1592736 w 7433452"/>
              <a:gd name="connsiteY25" fmla="*/ 6858000 h 6858000"/>
              <a:gd name="connsiteX26" fmla="*/ 0 w 7433452"/>
              <a:gd name="connsiteY2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433452" h="6858000">
                <a:moveTo>
                  <a:pt x="0" y="0"/>
                </a:moveTo>
                <a:lnTo>
                  <a:pt x="1592736" y="0"/>
                </a:lnTo>
                <a:lnTo>
                  <a:pt x="2171700" y="0"/>
                </a:lnTo>
                <a:lnTo>
                  <a:pt x="2762696" y="0"/>
                </a:lnTo>
                <a:lnTo>
                  <a:pt x="2829254" y="0"/>
                </a:lnTo>
                <a:lnTo>
                  <a:pt x="7415310" y="0"/>
                </a:lnTo>
                <a:lnTo>
                  <a:pt x="7405703" y="94814"/>
                </a:lnTo>
                <a:cubicBezTo>
                  <a:pt x="7398856" y="203629"/>
                  <a:pt x="7403520" y="312712"/>
                  <a:pt x="7410754" y="421796"/>
                </a:cubicBezTo>
                <a:cubicBezTo>
                  <a:pt x="7421580" y="551656"/>
                  <a:pt x="7422900" y="682144"/>
                  <a:pt x="7414688" y="812192"/>
                </a:cubicBezTo>
                <a:cubicBezTo>
                  <a:pt x="7406693" y="912591"/>
                  <a:pt x="7397682" y="1012988"/>
                  <a:pt x="7395017" y="1113642"/>
                </a:cubicBezTo>
                <a:cubicBezTo>
                  <a:pt x="7388670" y="1342689"/>
                  <a:pt x="7407708" y="1569316"/>
                  <a:pt x="7422810" y="1796708"/>
                </a:cubicBezTo>
                <a:cubicBezTo>
                  <a:pt x="7434487" y="1973710"/>
                  <a:pt x="7439944" y="2150457"/>
                  <a:pt x="7421161" y="2327333"/>
                </a:cubicBezTo>
                <a:cubicBezTo>
                  <a:pt x="7405170" y="2479266"/>
                  <a:pt x="7396793" y="2631453"/>
                  <a:pt x="7412023" y="2784280"/>
                </a:cubicBezTo>
                <a:cubicBezTo>
                  <a:pt x="7418749" y="2851085"/>
                  <a:pt x="7425984" y="2918653"/>
                  <a:pt x="7417480" y="2985458"/>
                </a:cubicBezTo>
                <a:cubicBezTo>
                  <a:pt x="7394508" y="3167039"/>
                  <a:pt x="7398063" y="3349132"/>
                  <a:pt x="7403774" y="3531096"/>
                </a:cubicBezTo>
                <a:cubicBezTo>
                  <a:pt x="7412277" y="3799715"/>
                  <a:pt x="7426364" y="4067954"/>
                  <a:pt x="7414307" y="4336830"/>
                </a:cubicBezTo>
                <a:cubicBezTo>
                  <a:pt x="7404027" y="4566639"/>
                  <a:pt x="7420653" y="4796831"/>
                  <a:pt x="7413419" y="5026893"/>
                </a:cubicBezTo>
                <a:cubicBezTo>
                  <a:pt x="7410982" y="5102162"/>
                  <a:pt x="7412429" y="5177504"/>
                  <a:pt x="7417734" y="5252632"/>
                </a:cubicBezTo>
                <a:cubicBezTo>
                  <a:pt x="7424271" y="5323700"/>
                  <a:pt x="7424271" y="5395213"/>
                  <a:pt x="7417734" y="5466282"/>
                </a:cubicBezTo>
                <a:cubicBezTo>
                  <a:pt x="7393239" y="5683875"/>
                  <a:pt x="7383214" y="5902486"/>
                  <a:pt x="7379659" y="6121225"/>
                </a:cubicBezTo>
                <a:cubicBezTo>
                  <a:pt x="7376423" y="6317442"/>
                  <a:pt x="7378041" y="6513586"/>
                  <a:pt x="7395115" y="6708907"/>
                </a:cubicBezTo>
                <a:lnTo>
                  <a:pt x="7412408" y="6858000"/>
                </a:lnTo>
                <a:lnTo>
                  <a:pt x="2829254" y="6858000"/>
                </a:lnTo>
                <a:lnTo>
                  <a:pt x="2762696" y="6858000"/>
                </a:lnTo>
                <a:lnTo>
                  <a:pt x="2171700" y="6858000"/>
                </a:lnTo>
                <a:lnTo>
                  <a:pt x="159273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itle 4">
            <a:extLst>
              <a:ext uri="{FF2B5EF4-FFF2-40B4-BE49-F238E27FC236}">
                <a16:creationId xmlns:a16="http://schemas.microsoft.com/office/drawing/2014/main" id="{8DCEBFE8-8690-5AFE-A151-78C2C502DC34}"/>
              </a:ext>
            </a:extLst>
          </p:cNvPr>
          <p:cNvSpPr>
            <a:spLocks noGrp="1"/>
          </p:cNvSpPr>
          <p:nvPr>
            <p:ph type="title"/>
          </p:nvPr>
        </p:nvSpPr>
        <p:spPr>
          <a:xfrm>
            <a:off x="838200" y="484632"/>
            <a:ext cx="6081713" cy="3566160"/>
          </a:xfrm>
        </p:spPr>
        <p:txBody>
          <a:bodyPr vert="horz" lIns="91440" tIns="45720" rIns="91440" bIns="45720" rtlCol="0" anchor="b">
            <a:normAutofit fontScale="90000"/>
          </a:bodyPr>
          <a:lstStyle/>
          <a:p>
            <a:r>
              <a:rPr lang="en-US" sz="6600" b="1" dirty="0">
                <a:solidFill>
                  <a:srgbClr val="FFFFFF"/>
                </a:solidFill>
              </a:rPr>
              <a:t>DEMO </a:t>
            </a:r>
            <a:br>
              <a:rPr lang="en-US" sz="6600" b="1" dirty="0">
                <a:solidFill>
                  <a:srgbClr val="FFFFFF"/>
                </a:solidFill>
              </a:rPr>
            </a:br>
            <a:r>
              <a:rPr lang="en-US" sz="6600" b="1" dirty="0">
                <a:solidFill>
                  <a:srgbClr val="FFFFFF"/>
                </a:solidFill>
              </a:rPr>
              <a:t>MIGRATION </a:t>
            </a:r>
            <a:br>
              <a:rPr lang="en-US" sz="6600" b="1" dirty="0">
                <a:solidFill>
                  <a:srgbClr val="FFFFFF"/>
                </a:solidFill>
              </a:rPr>
            </a:br>
            <a:r>
              <a:rPr lang="en-US" sz="6600" b="1" dirty="0">
                <a:solidFill>
                  <a:srgbClr val="FFFFFF"/>
                </a:solidFill>
              </a:rPr>
              <a:t>HIVE to ICEBERG</a:t>
            </a:r>
          </a:p>
        </p:txBody>
      </p:sp>
      <p:pic>
        <p:nvPicPr>
          <p:cNvPr id="6" name="Picture 5">
            <a:extLst>
              <a:ext uri="{FF2B5EF4-FFF2-40B4-BE49-F238E27FC236}">
                <a16:creationId xmlns:a16="http://schemas.microsoft.com/office/drawing/2014/main" id="{AF1EDC69-E2F6-A5F2-7D7F-D0490A51D2ED}"/>
              </a:ext>
            </a:extLst>
          </p:cNvPr>
          <p:cNvPicPr>
            <a:picLocks noChangeAspect="1"/>
          </p:cNvPicPr>
          <p:nvPr/>
        </p:nvPicPr>
        <p:blipFill>
          <a:blip r:embed="rId2"/>
          <a:stretch>
            <a:fillRect/>
          </a:stretch>
        </p:blipFill>
        <p:spPr>
          <a:xfrm>
            <a:off x="8291837" y="524960"/>
            <a:ext cx="3061963" cy="2904040"/>
          </a:xfrm>
          <a:prstGeom prst="rect">
            <a:avLst/>
          </a:prstGeom>
        </p:spPr>
      </p:pic>
      <p:sp>
        <p:nvSpPr>
          <p:cNvPr id="16" name="sketch line">
            <a:extLst>
              <a:ext uri="{FF2B5EF4-FFF2-40B4-BE49-F238E27FC236}">
                <a16:creationId xmlns:a16="http://schemas.microsoft.com/office/drawing/2014/main" id="{542249E6-ACD2-77DF-770C-391FD7252B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5475" y="4252192"/>
            <a:ext cx="4056549" cy="18288"/>
          </a:xfrm>
          <a:custGeom>
            <a:avLst/>
            <a:gdLst>
              <a:gd name="connsiteX0" fmla="*/ 0 w 4056549"/>
              <a:gd name="connsiteY0" fmla="*/ 0 h 18288"/>
              <a:gd name="connsiteX1" fmla="*/ 676092 w 4056549"/>
              <a:gd name="connsiteY1" fmla="*/ 0 h 18288"/>
              <a:gd name="connsiteX2" fmla="*/ 1271052 w 4056549"/>
              <a:gd name="connsiteY2" fmla="*/ 0 h 18288"/>
              <a:gd name="connsiteX3" fmla="*/ 1947144 w 4056549"/>
              <a:gd name="connsiteY3" fmla="*/ 0 h 18288"/>
              <a:gd name="connsiteX4" fmla="*/ 2501539 w 4056549"/>
              <a:gd name="connsiteY4" fmla="*/ 0 h 18288"/>
              <a:gd name="connsiteX5" fmla="*/ 3137065 w 4056549"/>
              <a:gd name="connsiteY5" fmla="*/ 0 h 18288"/>
              <a:gd name="connsiteX6" fmla="*/ 4056549 w 4056549"/>
              <a:gd name="connsiteY6" fmla="*/ 0 h 18288"/>
              <a:gd name="connsiteX7" fmla="*/ 4056549 w 4056549"/>
              <a:gd name="connsiteY7" fmla="*/ 18288 h 18288"/>
              <a:gd name="connsiteX8" fmla="*/ 3380458 w 4056549"/>
              <a:gd name="connsiteY8" fmla="*/ 18288 h 18288"/>
              <a:gd name="connsiteX9" fmla="*/ 2663801 w 4056549"/>
              <a:gd name="connsiteY9" fmla="*/ 18288 h 18288"/>
              <a:gd name="connsiteX10" fmla="*/ 2068840 w 4056549"/>
              <a:gd name="connsiteY10" fmla="*/ 18288 h 18288"/>
              <a:gd name="connsiteX11" fmla="*/ 1311618 w 4056549"/>
              <a:gd name="connsiteY11" fmla="*/ 18288 h 18288"/>
              <a:gd name="connsiteX12" fmla="*/ 716657 w 4056549"/>
              <a:gd name="connsiteY12" fmla="*/ 18288 h 18288"/>
              <a:gd name="connsiteX13" fmla="*/ 0 w 4056549"/>
              <a:gd name="connsiteY13" fmla="*/ 18288 h 18288"/>
              <a:gd name="connsiteX14" fmla="*/ 0 w 4056549"/>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6549" h="18288" fill="none" extrusionOk="0">
                <a:moveTo>
                  <a:pt x="0" y="0"/>
                </a:moveTo>
                <a:cubicBezTo>
                  <a:pt x="324395" y="-12272"/>
                  <a:pt x="437185" y="20747"/>
                  <a:pt x="676092" y="0"/>
                </a:cubicBezTo>
                <a:cubicBezTo>
                  <a:pt x="914999" y="-20747"/>
                  <a:pt x="980886" y="20074"/>
                  <a:pt x="1271052" y="0"/>
                </a:cubicBezTo>
                <a:cubicBezTo>
                  <a:pt x="1561218" y="-20074"/>
                  <a:pt x="1609815" y="19965"/>
                  <a:pt x="1947144" y="0"/>
                </a:cubicBezTo>
                <a:cubicBezTo>
                  <a:pt x="2284473" y="-19965"/>
                  <a:pt x="2317816" y="-23682"/>
                  <a:pt x="2501539" y="0"/>
                </a:cubicBezTo>
                <a:cubicBezTo>
                  <a:pt x="2685262" y="23682"/>
                  <a:pt x="2879461" y="12712"/>
                  <a:pt x="3137065" y="0"/>
                </a:cubicBezTo>
                <a:cubicBezTo>
                  <a:pt x="3394669" y="-12712"/>
                  <a:pt x="3618306" y="-41742"/>
                  <a:pt x="4056549" y="0"/>
                </a:cubicBezTo>
                <a:cubicBezTo>
                  <a:pt x="4056201" y="6465"/>
                  <a:pt x="4056979" y="10922"/>
                  <a:pt x="4056549" y="18288"/>
                </a:cubicBezTo>
                <a:cubicBezTo>
                  <a:pt x="3807729" y="-7540"/>
                  <a:pt x="3536237" y="12619"/>
                  <a:pt x="3380458" y="18288"/>
                </a:cubicBezTo>
                <a:cubicBezTo>
                  <a:pt x="3224679" y="23957"/>
                  <a:pt x="2967497" y="23368"/>
                  <a:pt x="2663801" y="18288"/>
                </a:cubicBezTo>
                <a:cubicBezTo>
                  <a:pt x="2360105" y="13208"/>
                  <a:pt x="2359716" y="-8821"/>
                  <a:pt x="2068840" y="18288"/>
                </a:cubicBezTo>
                <a:cubicBezTo>
                  <a:pt x="1777964" y="45397"/>
                  <a:pt x="1641909" y="31681"/>
                  <a:pt x="1311618" y="18288"/>
                </a:cubicBezTo>
                <a:cubicBezTo>
                  <a:pt x="981327" y="4895"/>
                  <a:pt x="990410" y="11155"/>
                  <a:pt x="716657" y="18288"/>
                </a:cubicBezTo>
                <a:cubicBezTo>
                  <a:pt x="442904" y="25421"/>
                  <a:pt x="330722" y="13665"/>
                  <a:pt x="0" y="18288"/>
                </a:cubicBezTo>
                <a:cubicBezTo>
                  <a:pt x="75" y="12069"/>
                  <a:pt x="515" y="5650"/>
                  <a:pt x="0" y="0"/>
                </a:cubicBezTo>
                <a:close/>
              </a:path>
              <a:path w="4056549" h="18288" stroke="0" extrusionOk="0">
                <a:moveTo>
                  <a:pt x="0" y="0"/>
                </a:moveTo>
                <a:cubicBezTo>
                  <a:pt x="175099" y="13469"/>
                  <a:pt x="459673" y="14529"/>
                  <a:pt x="594961" y="0"/>
                </a:cubicBezTo>
                <a:cubicBezTo>
                  <a:pt x="730249" y="-14529"/>
                  <a:pt x="873178" y="22015"/>
                  <a:pt x="1149356" y="0"/>
                </a:cubicBezTo>
                <a:cubicBezTo>
                  <a:pt x="1425534" y="-22015"/>
                  <a:pt x="1498871" y="-21513"/>
                  <a:pt x="1744316" y="0"/>
                </a:cubicBezTo>
                <a:cubicBezTo>
                  <a:pt x="1989761" y="21513"/>
                  <a:pt x="2112991" y="-46"/>
                  <a:pt x="2420408" y="0"/>
                </a:cubicBezTo>
                <a:cubicBezTo>
                  <a:pt x="2727825" y="46"/>
                  <a:pt x="2880256" y="-10040"/>
                  <a:pt x="3137065" y="0"/>
                </a:cubicBezTo>
                <a:cubicBezTo>
                  <a:pt x="3393874" y="10040"/>
                  <a:pt x="3704325" y="-6685"/>
                  <a:pt x="4056549" y="0"/>
                </a:cubicBezTo>
                <a:cubicBezTo>
                  <a:pt x="4055732" y="6895"/>
                  <a:pt x="4055770" y="11206"/>
                  <a:pt x="4056549" y="18288"/>
                </a:cubicBezTo>
                <a:cubicBezTo>
                  <a:pt x="3812770" y="11959"/>
                  <a:pt x="3533996" y="-5717"/>
                  <a:pt x="3299327" y="18288"/>
                </a:cubicBezTo>
                <a:cubicBezTo>
                  <a:pt x="3064658" y="42293"/>
                  <a:pt x="2940381" y="24492"/>
                  <a:pt x="2744931" y="18288"/>
                </a:cubicBezTo>
                <a:cubicBezTo>
                  <a:pt x="2549481" y="12084"/>
                  <a:pt x="2252169" y="51841"/>
                  <a:pt x="1987709" y="18288"/>
                </a:cubicBezTo>
                <a:cubicBezTo>
                  <a:pt x="1723249" y="-15265"/>
                  <a:pt x="1438946" y="3423"/>
                  <a:pt x="1230487" y="18288"/>
                </a:cubicBezTo>
                <a:cubicBezTo>
                  <a:pt x="1022028" y="33153"/>
                  <a:pt x="795957" y="18596"/>
                  <a:pt x="676092" y="18288"/>
                </a:cubicBezTo>
                <a:cubicBezTo>
                  <a:pt x="556227" y="17980"/>
                  <a:pt x="334853" y="39451"/>
                  <a:pt x="0" y="18288"/>
                </a:cubicBezTo>
                <a:cubicBezTo>
                  <a:pt x="95" y="14343"/>
                  <a:pt x="742" y="6860"/>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C783CAC-EE7E-732F-D3F9-FA5A58A84D6E}"/>
              </a:ext>
            </a:extLst>
          </p:cNvPr>
          <p:cNvPicPr>
            <a:picLocks noChangeAspect="1"/>
          </p:cNvPicPr>
          <p:nvPr/>
        </p:nvPicPr>
        <p:blipFill>
          <a:blip r:embed="rId3"/>
          <a:stretch>
            <a:fillRect/>
          </a:stretch>
        </p:blipFill>
        <p:spPr>
          <a:xfrm>
            <a:off x="7856858" y="4270480"/>
            <a:ext cx="3931920" cy="933830"/>
          </a:xfrm>
          <a:prstGeom prst="rect">
            <a:avLst/>
          </a:prstGeom>
        </p:spPr>
      </p:pic>
    </p:spTree>
    <p:extLst>
      <p:ext uri="{BB962C8B-B14F-4D97-AF65-F5344CB8AC3E}">
        <p14:creationId xmlns:p14="http://schemas.microsoft.com/office/powerpoint/2010/main" val="39855766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474</TotalTime>
  <Words>630</Words>
  <Application>Microsoft Macintosh PowerPoint</Application>
  <PresentationFormat>Widescreen</PresentationFormat>
  <Paragraphs>88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HIVE  to  ICEBERG</vt:lpstr>
      <vt:lpstr>Apache Hive</vt:lpstr>
      <vt:lpstr>Hive Architecture</vt:lpstr>
      <vt:lpstr>Apache Iceberg</vt:lpstr>
      <vt:lpstr>Iceberg Architecture</vt:lpstr>
      <vt:lpstr>Data Management and Metadata</vt:lpstr>
      <vt:lpstr>Concurrency and Transactions</vt:lpstr>
      <vt:lpstr>Schema Evolution</vt:lpstr>
      <vt:lpstr>Partitioning</vt:lpstr>
      <vt:lpstr>Performance</vt:lpstr>
      <vt:lpstr>DML Operations (Updates/Deletes)</vt:lpstr>
      <vt:lpstr>Differences in nutshell</vt:lpstr>
      <vt:lpstr>DEMO  ICEBERG CAPABILITIES</vt:lpstr>
      <vt:lpstr>DEMO  MIGRATION  HIVE to ICEBERG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Sharma, Vatsal</dc:creator>
  <cp:lastModifiedBy>Sharma, Vatsal</cp:lastModifiedBy>
  <cp:revision>2</cp:revision>
  <dcterms:created xsi:type="dcterms:W3CDTF">2025-09-16T02:26:04Z</dcterms:created>
  <dcterms:modified xsi:type="dcterms:W3CDTF">2025-09-16T10:20:14Z</dcterms:modified>
</cp:coreProperties>
</file>